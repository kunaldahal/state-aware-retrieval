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6" r:id="rId8"/>
    <p:sldId id="267" r:id="rId9"/>
    <p:sldId id="268" r:id="rId10"/>
    <p:sldId id="261" r:id="rId11"/>
    <p:sldId id="262" r:id="rId12"/>
    <p:sldId id="263" r:id="rId13"/>
    <p:sldId id="269" r:id="rId14"/>
    <p:sldId id="265" r:id="rId15"/>
  </p:sldIdLst>
  <p:sldSz cx="9144000" cy="5143500" type="screen16x9"/>
  <p:notesSz cx="5143500" cy="9144000"/>
  <p:embeddedFontLst>
    <p:embeddedFont>
      <p:font typeface="PT Serif" panose="020A0603040505020204" pitchFamily="34" charset="-122"/>
      <p:regular r:id="rId20"/>
    </p:embeddedFont>
    <p:embeddedFont>
      <p:font typeface="PT Serif" panose="020A0603040505020204" pitchFamily="34" charset="0"/>
      <p:regular r:id="rId21"/>
    </p:embeddedFont>
    <p:embeddedFont>
      <p:font typeface="PT Serif" panose="020A0603040505020204" pitchFamily="34" charset="-120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man Chettri" initials="S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9" d="100"/>
          <a:sy n="109" d="100"/>
        </p:scale>
        <p:origin x="276" y="-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97691" y="2840936"/>
            <a:ext cx="8489694" cy="63280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20202"/>
                </a:solidFill>
                <a:latin typeface="Times New Roman" panose="02020603050405020304" pitchFamily="18" charset="0"/>
                <a:ea typeface="PT Serif" panose="020A0603040505020204" pitchFamily="34" charset="-122"/>
                <a:cs typeface="Times New Roman" panose="02020603050405020304" pitchFamily="18" charset="0"/>
              </a:rPr>
              <a:t>ARGUS</a:t>
            </a:r>
            <a:r>
              <a:rPr lang="en-US" sz="2400" dirty="0">
                <a:solidFill>
                  <a:srgbClr val="020202"/>
                </a:solidFill>
                <a:latin typeface="Times New Roman" panose="02020603050405020304" pitchFamily="18" charset="0"/>
                <a:ea typeface="PT Serif" panose="020A0603040505020204" pitchFamily="34" charset="-122"/>
                <a:cs typeface="Times New Roman" panose="02020603050405020304" pitchFamily="18" charset="0"/>
              </a:rPr>
              <a:t>: Autonomous Reconnaissance and Ground Utility System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546" y="3321635"/>
            <a:ext cx="8151763" cy="10567"/>
          </a:xfrm>
          <a:prstGeom prst="rect">
            <a:avLst/>
          </a:prstGeom>
          <a:solidFill>
            <a:srgbClr val="383838">
              <a:alpha val="50000"/>
            </a:srgbClr>
          </a:solidFill>
        </p:spPr>
      </p:sp>
      <p:pic>
        <p:nvPicPr>
          <p:cNvPr id="8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783230" y="994961"/>
            <a:ext cx="1378317" cy="1317929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625327" y="147205"/>
            <a:ext cx="8151763" cy="7294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algn="ctr">
              <a:lnSpc>
                <a:spcPct val="104000"/>
              </a:lnSpc>
            </a:pPr>
            <a:r>
              <a:rPr lang="en-US" sz="2800" dirty="0">
                <a:solidFill>
                  <a:srgbClr val="020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Sikkim Institute of Science and Technology</a:t>
            </a:r>
            <a:br>
              <a:rPr lang="en-US" sz="2800" dirty="0">
                <a:solidFill>
                  <a:srgbClr val="020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020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Synopsis Presentation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2"/>
          <p:cNvSpPr/>
          <p:nvPr/>
        </p:nvSpPr>
        <p:spPr>
          <a:xfrm>
            <a:off x="227541" y="2440324"/>
            <a:ext cx="8489694" cy="63280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20202"/>
                </a:solidFill>
                <a:latin typeface="Times New Roman" panose="02020603050405020304" pitchFamily="18" charset="0"/>
                <a:ea typeface="PT Serif" panose="020A0603040505020204" pitchFamily="34" charset="-122"/>
                <a:cs typeface="Times New Roman" panose="02020603050405020304" pitchFamily="18" charset="0"/>
              </a:rPr>
              <a:t>Topic</a:t>
            </a:r>
            <a:r>
              <a:rPr lang="en-US" sz="2400" dirty="0">
                <a:solidFill>
                  <a:srgbClr val="020202"/>
                </a:solidFill>
                <a:latin typeface="Times New Roman" panose="02020603050405020304" pitchFamily="18" charset="0"/>
                <a:ea typeface="PT Serif" panose="020A0603040505020204" pitchFamily="34" charset="-122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0"/>
          <p:cNvSpPr txBox="1"/>
          <p:nvPr/>
        </p:nvSpPr>
        <p:spPr>
          <a:xfrm>
            <a:off x="839183" y="3771944"/>
            <a:ext cx="3251835" cy="758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356870" algn="l"/>
              </a:tabLst>
            </a:pPr>
            <a:r>
              <a:rPr lang="en-US" sz="1600" dirty="0">
                <a:latin typeface="Times New Roman" panose="02020603050405020304"/>
                <a:cs typeface="Times New Roman" panose="02020603050405020304"/>
              </a:rPr>
              <a:t>Suman Chettri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(2</a:t>
            </a:r>
            <a:r>
              <a:rPr lang="en-US" sz="1600" spc="-10" dirty="0">
                <a:latin typeface="Times New Roman" panose="02020603050405020304"/>
                <a:cs typeface="Times New Roman" panose="02020603050405020304"/>
              </a:rPr>
              <a:t>3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CSEC</a:t>
            </a:r>
            <a:r>
              <a:rPr lang="en-US" sz="1600" spc="-10" dirty="0">
                <a:latin typeface="Times New Roman" panose="02020603050405020304"/>
                <a:cs typeface="Times New Roman" panose="02020603050405020304"/>
              </a:rPr>
              <a:t>44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)</a:t>
            </a:r>
            <a:endParaRPr sz="1600" dirty="0">
              <a:latin typeface="Times New Roman" panose="02020603050405020304"/>
              <a:cs typeface="Times New Roman" panose="02020603050405020304"/>
            </a:endParaRPr>
          </a:p>
          <a:p>
            <a:pPr marL="356870" indent="-344170">
              <a:lnSpc>
                <a:spcPct val="100000"/>
              </a:lnSpc>
              <a:buAutoNum type="arabicPeriod"/>
              <a:tabLst>
                <a:tab pos="356870" algn="l"/>
              </a:tabLst>
            </a:pPr>
            <a:r>
              <a:rPr lang="en-US" sz="1600" dirty="0">
                <a:latin typeface="Times New Roman" panose="02020603050405020304"/>
                <a:cs typeface="Times New Roman" panose="02020603050405020304"/>
              </a:rPr>
              <a:t>Kunal </a:t>
            </a:r>
            <a:r>
              <a:rPr lang="en-US" sz="1600" dirty="0" err="1">
                <a:latin typeface="Times New Roman" panose="02020603050405020304"/>
                <a:cs typeface="Times New Roman" panose="02020603050405020304"/>
              </a:rPr>
              <a:t>Dahal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(2</a:t>
            </a:r>
            <a:r>
              <a:rPr lang="en-US" sz="1600" spc="-10" dirty="0">
                <a:latin typeface="Times New Roman" panose="02020603050405020304"/>
                <a:cs typeface="Times New Roman" panose="02020603050405020304"/>
              </a:rPr>
              <a:t>3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CSEC</a:t>
            </a:r>
            <a:r>
              <a:rPr lang="en-US" sz="1600" spc="-10" dirty="0">
                <a:latin typeface="Times New Roman" panose="02020603050405020304"/>
                <a:cs typeface="Times New Roman" panose="02020603050405020304"/>
              </a:rPr>
              <a:t>17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)</a:t>
            </a:r>
            <a:endParaRPr sz="1600" dirty="0">
              <a:latin typeface="Times New Roman" panose="02020603050405020304"/>
              <a:cs typeface="Times New Roman" panose="02020603050405020304"/>
            </a:endParaRPr>
          </a:p>
          <a:p>
            <a:pPr marL="356870" indent="-344170">
              <a:lnSpc>
                <a:spcPct val="100000"/>
              </a:lnSpc>
              <a:buAutoNum type="arabicPeriod"/>
              <a:tabLst>
                <a:tab pos="356870" algn="l"/>
              </a:tabLst>
            </a:pPr>
            <a:r>
              <a:rPr lang="en-US" sz="1600" spc="-40" dirty="0">
                <a:latin typeface="Times New Roman" panose="02020603050405020304"/>
                <a:cs typeface="Times New Roman" panose="02020603050405020304"/>
              </a:rPr>
              <a:t>Aniket Manger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(2</a:t>
            </a:r>
            <a:r>
              <a:rPr lang="en-US" sz="1600" spc="-10" dirty="0">
                <a:latin typeface="Times New Roman" panose="02020603050405020304"/>
                <a:cs typeface="Times New Roman" panose="02020603050405020304"/>
              </a:rPr>
              <a:t>3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CSEC</a:t>
            </a:r>
            <a:r>
              <a:rPr lang="en-US" sz="1600" spc="-10" dirty="0">
                <a:latin typeface="Times New Roman" panose="02020603050405020304"/>
                <a:cs typeface="Times New Roman" panose="02020603050405020304"/>
              </a:rPr>
              <a:t>23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)</a:t>
            </a:r>
            <a:endParaRPr sz="16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9"/>
          <p:cNvSpPr txBox="1"/>
          <p:nvPr/>
        </p:nvSpPr>
        <p:spPr>
          <a:xfrm>
            <a:off x="839183" y="3416888"/>
            <a:ext cx="13906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Presented</a:t>
            </a:r>
            <a:r>
              <a:rPr sz="18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25" dirty="0">
                <a:latin typeface="Times New Roman" panose="02020603050405020304"/>
                <a:cs typeface="Times New Roman" panose="02020603050405020304"/>
              </a:rPr>
              <a:t>By: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1"/>
          <p:cNvSpPr txBox="1"/>
          <p:nvPr/>
        </p:nvSpPr>
        <p:spPr>
          <a:xfrm>
            <a:off x="5545491" y="3693616"/>
            <a:ext cx="2594113" cy="843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"/>
              </a:spcBef>
            </a:pPr>
            <a:r>
              <a:rPr lang="en-US" sz="1800" dirty="0">
                <a:latin typeface="Times New Roman" panose="02020603050405020304"/>
                <a:cs typeface="Times New Roman" panose="02020603050405020304"/>
              </a:rPr>
              <a:t>Mr. Anmol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lang="en-US" sz="1800" dirty="0">
                <a:latin typeface="Times New Roman" panose="02020603050405020304"/>
                <a:cs typeface="Times New Roman" panose="02020603050405020304"/>
              </a:rPr>
              <a:t>anday</a:t>
            </a:r>
            <a:br>
              <a:rPr lang="en-US" sz="1800" dirty="0">
                <a:latin typeface="Times New Roman" panose="02020603050405020304"/>
                <a:cs typeface="Times New Roman" panose="02020603050405020304"/>
              </a:rPr>
            </a:br>
            <a:r>
              <a:rPr lang="en-US" sz="1800" dirty="0">
                <a:latin typeface="Times New Roman" panose="02020603050405020304"/>
                <a:cs typeface="Times New Roman" panose="02020603050405020304"/>
              </a:rPr>
              <a:t>Assistant</a:t>
            </a:r>
            <a:r>
              <a:rPr lang="en-US" sz="1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800" spc="-10" dirty="0">
                <a:latin typeface="Times New Roman" panose="02020603050405020304"/>
                <a:cs typeface="Times New Roman" panose="02020603050405020304"/>
              </a:rPr>
              <a:t>Professor </a:t>
            </a:r>
            <a:r>
              <a:rPr lang="en-US" sz="1800" dirty="0">
                <a:latin typeface="Times New Roman" panose="02020603050405020304"/>
                <a:cs typeface="Times New Roman" panose="02020603050405020304"/>
              </a:rPr>
              <a:t>(Computer</a:t>
            </a:r>
            <a:r>
              <a:rPr lang="en-US" sz="1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800" spc="-10" dirty="0">
                <a:latin typeface="Times New Roman" panose="02020603050405020304"/>
                <a:cs typeface="Times New Roman" panose="02020603050405020304"/>
              </a:rPr>
              <a:t>Engineering)</a:t>
            </a:r>
            <a:endParaRPr lang="en-US" sz="1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978729" y="4817314"/>
            <a:ext cx="1103243" cy="27432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5340954" y="3329845"/>
            <a:ext cx="2194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lang="en-US" b="1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b="1" dirty="0">
                <a:latin typeface="Times New Roman" panose="02020603050405020304"/>
                <a:cs typeface="Times New Roman" panose="02020603050405020304"/>
              </a:rPr>
              <a:t>Guide</a:t>
            </a:r>
            <a:r>
              <a:rPr lang="en-US" b="1" spc="-50" dirty="0">
                <a:latin typeface="Times New Roman" panose="02020603050405020304"/>
                <a:cs typeface="Times New Roman" panose="02020603050405020304"/>
              </a:rPr>
              <a:t>:</a:t>
            </a:r>
            <a:endParaRPr lang="en-US" b="1" spc="-5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13" y="1062976"/>
            <a:ext cx="8647043" cy="465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20202"/>
                </a:solidFill>
                <a:latin typeface="Times New Roman" panose="02020603050405020304" pitchFamily="18" charset="0"/>
                <a:ea typeface="PT Serif" panose="020A0603040505020204" pitchFamily="34" charset="-122"/>
                <a:cs typeface="Times New Roman" panose="02020603050405020304" pitchFamily="18" charset="0"/>
              </a:rPr>
              <a:t>Abstract</a:t>
            </a:r>
            <a:endParaRPr lang="en-US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7443" y="1846996"/>
            <a:ext cx="8309113" cy="333114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ARGUS (Autonomous Reconnaissance and Ground Utility System)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smart autonomous rover developed for disaster monitoring, environmental surveillance, and rescue support. It is equipped with obstacle detection, temperature, and gas sensors, along with a wireless camera for real-time monitoring. The rover can navigate through hazardous or inaccessible areas, collect critical environmental data, and transmit information to rescue teams. By combining sensing, communication, and autonomous navigation, ARGUS provides a reliable and cost-effective solution for improving situational awareness during emergency and disaster-response operations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978729" y="4831626"/>
            <a:ext cx="1103243" cy="27432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8965" y="1131994"/>
            <a:ext cx="8804953" cy="465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20202"/>
                </a:solidFill>
                <a:latin typeface="Times New Roman" panose="02020603050405020304" pitchFamily="18" charset="0"/>
                <a:ea typeface="PT Serif" panose="020A0603040505020204" pitchFamily="34" charset="-122"/>
                <a:cs typeface="Times New Roman" panose="02020603050405020304" pitchFamily="18" charset="0"/>
              </a:rPr>
              <a:t>Introduction</a:t>
            </a:r>
            <a:endParaRPr lang="en-US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4815" y="1527175"/>
            <a:ext cx="8295005" cy="28848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Disaster management is essential for protecting lives and property during emergencies. Modern technologies such as robotics and sensors are transforming disaster response operations. Ground-based robotic systems can assist in monitoring hazardous environments. Real-time data collection and wireless communication improve situational awareness. ARGUS is an autonomous disaster surveillance rover designed to support monitoring and rescue operations.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978729" y="4817314"/>
            <a:ext cx="1103243" cy="27432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25253" y="113484"/>
            <a:ext cx="3190056" cy="3416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Times New Roman" panose="02020603050405020304" pitchFamily="18" charset="0"/>
                <a:ea typeface="PT Serif" panose="020A0603040505020204" pitchFamily="34" charset="-122"/>
                <a:cs typeface="Times New Roman" panose="02020603050405020304" pitchFamily="18" charset="0"/>
              </a:rPr>
              <a:t>Literature Survey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978729" y="4817314"/>
            <a:ext cx="1103243" cy="27432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17359" y="1172505"/>
          <a:ext cx="8265795" cy="35585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71898"/>
                <a:gridCol w="5793796"/>
              </a:tblGrid>
              <a:tr h="412078"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r>
                        <a:rPr lang="en-US" sz="12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lang="en-US" sz="12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paper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Surveillance Robot Using ESP-32 Wi-Fi CAM &amp; Arduino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427155"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Nookala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Venu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633194"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Details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IJFANS International Journal of Food and Nutritional Sciences, Vol. 11, Issue 5, July 2022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740161"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Findings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GB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successful integration of environmental sensors, live video streaming, and IoT connectivity into a single surveillance platform.</a:t>
                      </a:r>
                      <a:endParaRPr lang="en-US" alt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635000"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0" marR="196215" algn="just">
                        <a:lnSpc>
                          <a:spcPct val="145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tabLst>
                          <a:tab pos="753745" algn="l"/>
                        </a:tabLs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Designed mainly for border surveillance, lacks autonomous navigation and disaster-specific hazard detection.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710727">
                <a:tc>
                  <a:txBody>
                    <a:bodyPr/>
                    <a:lstStyle/>
                    <a:p>
                      <a:pPr marL="67945" marR="130175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</a:t>
                      </a:r>
                      <a:r>
                        <a:rPr lang="en-US" sz="1200" spc="-7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</a:t>
                      </a:r>
                      <a:r>
                        <a:rPr lang="en-US" sz="1200" spc="-7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</a:t>
                      </a:r>
                      <a:r>
                        <a:rPr lang="en-US" sz="12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0" marR="0" indent="-152400">
                        <a:spcBef>
                          <a:spcPts val="68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altLang="en-GB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Validates the feasibility of ESP32-CAM based live video streaming and remote monitoring for the ARGUS rover.</a:t>
                      </a:r>
                      <a:endParaRPr lang="en-US" alt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625642" y="699785"/>
            <a:ext cx="28996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 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65484" y="1046748"/>
          <a:ext cx="8157410" cy="38501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9516"/>
                <a:gridCol w="5717894"/>
              </a:tblGrid>
              <a:tr h="609050"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r>
                        <a:rPr lang="en-US" sz="12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lang="en-US" sz="12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paper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IoT Based Obstacle Avoidance Robot Using Ultrasonic Sensor and Arduino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428254"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Rajesh Mothe, S. Tharun Reddy, G. Sunil, Chintoju Sidhardha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634824"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Details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IOP Conference Series: Materials Science and Engineering, 2020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742067"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Findings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GB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Demonstrates reliable obstacle detection and autonomous navigation using ultrasonic and  infrared sensors.</a:t>
                      </a:r>
                      <a:endParaRPr lang="en-US" alt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723353"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0" marR="196215" algn="just">
                        <a:lnSpc>
                          <a:spcPct val="145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tabLst>
                          <a:tab pos="753745" algn="l"/>
                        </a:tabLs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environmental sensing, video streaming, or autonomous path planning.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712558">
                <a:tc>
                  <a:txBody>
                    <a:bodyPr/>
                    <a:lstStyle/>
                    <a:p>
                      <a:pPr marL="67945" marR="130175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</a:t>
                      </a:r>
                      <a:r>
                        <a:rPr lang="en-US" sz="1200" spc="-7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</a:t>
                      </a:r>
                      <a:r>
                        <a:rPr lang="en-US" sz="1200" spc="-7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</a:t>
                      </a:r>
                      <a:r>
                        <a:rPr lang="en-US" sz="1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0" marR="0" indent="-152400">
                        <a:spcBef>
                          <a:spcPts val="68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altLang="en-GB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the technical foundation for ARGUS's obstacle avoidance and autonomous navigation system.</a:t>
                      </a:r>
                      <a:endParaRPr lang="en-US" alt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65484" y="585082"/>
            <a:ext cx="28996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 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89547" y="950495"/>
          <a:ext cx="8013032" cy="39224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96337"/>
                <a:gridCol w="5616695"/>
              </a:tblGrid>
              <a:tr h="575848"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r>
                        <a:rPr lang="en-US" sz="11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lang="en-US" sz="11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paper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ESP32-CAM Based Robot for Restricted and Hazardous Area Surveillance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575848"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Brajesh Kumar, Ashutosh Gaur, Dr. Pragati Upadhyay, Ankit Shukla, Diwakar Tiwari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625336"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Details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of Propulsion Technology, Vol. 47, Issue 01, 2026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730977"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Findings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GB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 ESP32-CAM successfully provided camera, Wi-Fi, and processing capabilities in a single low-cost platform.</a:t>
                      </a:r>
                      <a:endParaRPr lang="en-US" alt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712544"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0" marR="196215" algn="just">
                        <a:lnSpc>
                          <a:spcPct val="145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tabLst>
                          <a:tab pos="753745" algn="l"/>
                        </a:tabLst>
                      </a:pPr>
                      <a:r>
                        <a:rPr lang="en-US" altLang="en-GB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 ESP32-CAM successfully integrated imaging, processing, and wireless communication into a single platform. </a:t>
                      </a:r>
                      <a:endParaRPr lang="en-US" alt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701908">
                <a:tc>
                  <a:txBody>
                    <a:bodyPr/>
                    <a:lstStyle/>
                    <a:p>
                      <a:pPr marL="67945" marR="130175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</a:t>
                      </a:r>
                      <a:r>
                        <a:rPr lang="en-US" sz="1100" spc="-7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</a:t>
                      </a:r>
                      <a:r>
                        <a:rPr lang="en-US" sz="1100" spc="-7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</a:t>
                      </a:r>
                      <a:r>
                        <a:rPr lang="en-US" sz="11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0" marR="0" indent="-152400">
                        <a:spcBef>
                          <a:spcPts val="68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altLang="en-GB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Validates the feasibility of low cost, real time video surveillance using the ESP32-CAM platform.</a:t>
                      </a:r>
                      <a:endParaRPr lang="en-US" altLang="en-GB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89547" y="488830"/>
            <a:ext cx="28996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 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45957" y="962526"/>
          <a:ext cx="7952875" cy="39463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78350"/>
                <a:gridCol w="5574525"/>
              </a:tblGrid>
              <a:tr h="624277"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r>
                        <a:rPr lang="en-US" sz="12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lang="en-US" sz="12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paper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Autonomous Obstacle Avoidance Robot Using Ultrasonic Sensor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438960"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O. Agbeyangi, O. Alashiri, J. O. Odiete, O. A. Adenekan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650694"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Details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Journal of Computer Science and Its Applications, Vol. 27, No. 1, 2020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760619"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Findings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GB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reliable autonomous obstacle detection and navigation using ultrasonic sensing and real time decision making. </a:t>
                      </a:r>
                      <a:endParaRPr lang="en-US" alt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741437">
                <a:tc>
                  <a:txBody>
                    <a:bodyPr/>
                    <a:lstStyle/>
                    <a:p>
                      <a:pPr marL="6794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0" marR="196215" algn="just">
                        <a:lnSpc>
                          <a:spcPct val="145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tabLst>
                          <a:tab pos="753745" algn="l"/>
                        </a:tabLst>
                      </a:pPr>
                      <a:r>
                        <a:rPr lang="en-US" altLang="en-GB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Lacks visual surveillance capabilities, limiting situational awareness and suitability for monitoring or rescue applications.</a:t>
                      </a:r>
                      <a:endParaRPr lang="en-US" alt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730372">
                <a:tc>
                  <a:txBody>
                    <a:bodyPr/>
                    <a:lstStyle/>
                    <a:p>
                      <a:pPr marL="67945" marR="130175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</a:t>
                      </a:r>
                      <a:r>
                        <a:rPr lang="en-US" sz="1200" spc="-7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</a:t>
                      </a:r>
                      <a:r>
                        <a:rPr lang="en-US" sz="1200" spc="-7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</a:t>
                      </a:r>
                      <a:r>
                        <a:rPr lang="en-US" sz="12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0" marR="0" indent="-152400">
                        <a:spcBef>
                          <a:spcPts val="68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altLang="en-GB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the foundation for ARGUS's autonomous navigation and obstacle avoidance capabilities.</a:t>
                      </a:r>
                      <a:endParaRPr lang="en-US" alt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45957" y="500861"/>
            <a:ext cx="28996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 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2818" y="1121436"/>
            <a:ext cx="6927573" cy="465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20202"/>
                </a:solidFill>
                <a:latin typeface="Times New Roman" panose="02020603050405020304" pitchFamily="18" charset="0"/>
                <a:ea typeface="PT Serif" panose="020A0603040505020204" pitchFamily="34" charset="-122"/>
                <a:cs typeface="Times New Roman" panose="02020603050405020304" pitchFamily="18" charset="0"/>
              </a:rPr>
              <a:t>Problem</a:t>
            </a:r>
            <a:r>
              <a:rPr lang="en-US" sz="2900" b="1" dirty="0">
                <a:solidFill>
                  <a:srgbClr val="020202"/>
                </a:solidFill>
                <a:latin typeface="Times New Roman" panose="02020603050405020304" pitchFamily="18" charset="0"/>
                <a:ea typeface="PT Serif" panose="020A0603040505020204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20202"/>
                </a:solidFill>
                <a:latin typeface="Times New Roman" panose="02020603050405020304" pitchFamily="18" charset="0"/>
                <a:ea typeface="PT Serif" panose="020A0603040505020204" pitchFamily="34" charset="-122"/>
                <a:cs typeface="Times New Roman" panose="02020603050405020304" pitchFamily="18" charset="0"/>
              </a:rPr>
              <a:t>Definition</a:t>
            </a:r>
            <a:endParaRPr lang="en-US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2760" y="1551940"/>
            <a:ext cx="7960995" cy="3143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GB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Disaster zones often contain hazardous conditions that make direct human entry dangerous and increase the risk to rescue personnel.</a:t>
            </a:r>
            <a:endParaRPr kumimoji="0" lang="en-US" altLang="en-GB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GB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Rescue teams frequently face difficulties in obtaining accurate and timely information about affected environments    during emergencies.</a:t>
            </a:r>
            <a:endParaRPr kumimoji="0" lang="en-US" altLang="en-GB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GB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Many disaster affected locations are difficult or impossible to access, delaying assessment and response operations.</a:t>
            </a:r>
            <a:endParaRPr kumimoji="0" lang="en-US" altLang="en-GB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GB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Many disaster monitoring and reconnaissance systems rely on specialized equipment and advanced technologies, making them expensive and difficult to deploy on a large scale.</a:t>
            </a:r>
            <a:endParaRPr kumimoji="0" lang="en-US" altLang="en-GB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978729" y="4817314"/>
            <a:ext cx="1103243" cy="27432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Box 4"/>
          <p:cNvSpPr txBox="1"/>
          <p:nvPr/>
        </p:nvSpPr>
        <p:spPr>
          <a:xfrm>
            <a:off x="4881245" y="387096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657" y="1253066"/>
            <a:ext cx="4178573" cy="465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20202"/>
                </a:solidFill>
                <a:latin typeface="Times New Roman" panose="02020603050405020304" pitchFamily="18" charset="0"/>
                <a:ea typeface="PT Serif" panose="020A0603040505020204" pitchFamily="34" charset="-122"/>
                <a:cs typeface="Times New Roman" panose="02020603050405020304" pitchFamily="18" charset="0"/>
              </a:rPr>
              <a:t>Objectives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4695" y="1863090"/>
            <a:ext cx="7722235" cy="19075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GB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 need for human exposure to hazardous environments during initial disaster     assessment and reconnaissance.</a:t>
            </a:r>
            <a:endParaRPr kumimoji="0" lang="en-US" altLang="en-GB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GB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Provide timely and accurate information to support effective decision making during emergency response operations.</a:t>
            </a:r>
            <a:endParaRPr kumimoji="0" lang="en-US" altLang="en-GB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GB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Facilitate the monitoring and evaluation of disaster affected locations that are difficult or unsafe for personnel to access.</a:t>
            </a:r>
            <a:endParaRPr kumimoji="0" lang="en-US" altLang="en-GB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GB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Provide an affordable and accessible system that can support disaster assessment and monitoring without requiring high cost equipment.</a:t>
            </a:r>
            <a:endParaRPr kumimoji="0" lang="en-US" altLang="en-GB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978729" y="4817314"/>
            <a:ext cx="1103243" cy="27432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5693" y="1393031"/>
            <a:ext cx="6103464" cy="465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20202"/>
                </a:solidFill>
                <a:latin typeface="PT Serif" panose="020A0603040505020204" pitchFamily="34" charset="0"/>
                <a:ea typeface="PT Serif" panose="020A0603040505020204" pitchFamily="34" charset="-122"/>
                <a:cs typeface="PT Serif" panose="020A0603040505020204" pitchFamily="34" charset="-120"/>
              </a:rPr>
              <a:t>Applications</a:t>
            </a:r>
            <a:endParaRPr lang="en-US" sz="2900" b="1" dirty="0"/>
          </a:p>
        </p:txBody>
      </p:sp>
      <p:sp>
        <p:nvSpPr>
          <p:cNvPr id="3" name="Text 1"/>
          <p:cNvSpPr/>
          <p:nvPr/>
        </p:nvSpPr>
        <p:spPr>
          <a:xfrm>
            <a:off x="496119" y="2141711"/>
            <a:ext cx="8151763" cy="16086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alt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assessing disaster-affected areas and supporting rescue teams during emergency response operations.</a:t>
            </a:r>
            <a:endParaRPr lang="en-US" alt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alt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Applicable in industrial environments for monitoring hazardous conditions and improving worker safety.</a:t>
            </a:r>
            <a:endParaRPr lang="en-US" alt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alt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Assists firefighting teams by providing situational awareness in fire-affected environments.</a:t>
            </a:r>
            <a:endParaRPr lang="en-US" alt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alt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safe assessment of dangerous or restricted areas before human entry.</a:t>
            </a:r>
            <a:endParaRPr lang="en-US" alt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alt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the detection and monitoring of hazardous gases in industrial and disaster environments.</a:t>
            </a:r>
            <a:endParaRPr lang="en-US" alt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alt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 time monitoring of locations that are unsafe or difficult for personnel to access</a:t>
            </a:r>
            <a:endParaRPr lang="en-US" alt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978729" y="4817314"/>
            <a:ext cx="1103243" cy="27432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5740" y="171450"/>
            <a:ext cx="8709660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PLANNING &amp; GANTT CHART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54380" y="726694"/>
            <a:ext cx="754380" cy="35661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4380" y="726694"/>
            <a:ext cx="754380" cy="356616"/>
          </a:xfrm>
          <a:prstGeom prst="rect">
            <a:avLst/>
          </a:prstGeom>
          <a:noFill/>
        </p:spPr>
        <p:txBody>
          <a:bodyPr wrap="square" lIns="19050" tIns="19050" rIns="19050" bIns="19050" rtlCol="0" anchor="ctr"/>
          <a:lstStyle/>
          <a:p>
            <a:pPr algn="ctr"/>
            <a:r>
              <a:rPr lang="en-US" sz="565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DURATION/</a:t>
            </a:r>
            <a:endParaRPr lang="en-US" sz="565" dirty="0"/>
          </a:p>
          <a:p>
            <a:pPr algn="ctr"/>
            <a:r>
              <a:rPr lang="en-US" sz="565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ACTIVITIES</a:t>
            </a:r>
            <a:endParaRPr lang="en-US" sz="565" dirty="0"/>
          </a:p>
        </p:txBody>
      </p:sp>
      <p:sp>
        <p:nvSpPr>
          <p:cNvPr id="8" name="Shape 6"/>
          <p:cNvSpPr/>
          <p:nvPr/>
        </p:nvSpPr>
        <p:spPr>
          <a:xfrm>
            <a:off x="1508633" y="726694"/>
            <a:ext cx="795528" cy="205740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633" y="726694"/>
            <a:ext cx="795528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MAR</a:t>
            </a:r>
            <a:endParaRPr lang="en-US" sz="675" dirty="0"/>
          </a:p>
        </p:txBody>
      </p:sp>
      <p:sp>
        <p:nvSpPr>
          <p:cNvPr id="10" name="Shape 8"/>
          <p:cNvSpPr/>
          <p:nvPr/>
        </p:nvSpPr>
        <p:spPr>
          <a:xfrm>
            <a:off x="2304161" y="726694"/>
            <a:ext cx="795528" cy="205740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04161" y="726694"/>
            <a:ext cx="795528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APR</a:t>
            </a:r>
            <a:endParaRPr lang="en-US" sz="675" dirty="0"/>
          </a:p>
        </p:txBody>
      </p:sp>
      <p:sp>
        <p:nvSpPr>
          <p:cNvPr id="12" name="Shape 10"/>
          <p:cNvSpPr/>
          <p:nvPr/>
        </p:nvSpPr>
        <p:spPr>
          <a:xfrm>
            <a:off x="3099689" y="726694"/>
            <a:ext cx="795528" cy="205740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9689" y="726694"/>
            <a:ext cx="795528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MAY</a:t>
            </a:r>
            <a:endParaRPr lang="en-US" sz="675" dirty="0"/>
          </a:p>
        </p:txBody>
      </p:sp>
      <p:sp>
        <p:nvSpPr>
          <p:cNvPr id="14" name="Shape 12"/>
          <p:cNvSpPr/>
          <p:nvPr/>
        </p:nvSpPr>
        <p:spPr>
          <a:xfrm>
            <a:off x="3895217" y="726694"/>
            <a:ext cx="795528" cy="205740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95217" y="726694"/>
            <a:ext cx="795528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JUN</a:t>
            </a:r>
            <a:endParaRPr lang="en-US" sz="675" dirty="0"/>
          </a:p>
        </p:txBody>
      </p:sp>
      <p:sp>
        <p:nvSpPr>
          <p:cNvPr id="16" name="Shape 14"/>
          <p:cNvSpPr/>
          <p:nvPr/>
        </p:nvSpPr>
        <p:spPr>
          <a:xfrm>
            <a:off x="4690745" y="726694"/>
            <a:ext cx="795528" cy="205740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745" y="726694"/>
            <a:ext cx="795528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JUL</a:t>
            </a:r>
            <a:endParaRPr lang="en-US" sz="675" dirty="0"/>
          </a:p>
        </p:txBody>
      </p:sp>
      <p:sp>
        <p:nvSpPr>
          <p:cNvPr id="18" name="Shape 16"/>
          <p:cNvSpPr/>
          <p:nvPr/>
        </p:nvSpPr>
        <p:spPr>
          <a:xfrm>
            <a:off x="5486273" y="726694"/>
            <a:ext cx="795528" cy="205740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273" y="726694"/>
            <a:ext cx="795528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AUG</a:t>
            </a:r>
            <a:endParaRPr lang="en-US" sz="675" dirty="0"/>
          </a:p>
        </p:txBody>
      </p:sp>
      <p:sp>
        <p:nvSpPr>
          <p:cNvPr id="20" name="Shape 18"/>
          <p:cNvSpPr/>
          <p:nvPr/>
        </p:nvSpPr>
        <p:spPr>
          <a:xfrm>
            <a:off x="6281801" y="726694"/>
            <a:ext cx="795528" cy="205740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81801" y="726694"/>
            <a:ext cx="795528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SEPT</a:t>
            </a:r>
            <a:endParaRPr lang="en-US" sz="675" dirty="0"/>
          </a:p>
        </p:txBody>
      </p:sp>
      <p:sp>
        <p:nvSpPr>
          <p:cNvPr id="22" name="Shape 20"/>
          <p:cNvSpPr/>
          <p:nvPr/>
        </p:nvSpPr>
        <p:spPr>
          <a:xfrm>
            <a:off x="7077329" y="726694"/>
            <a:ext cx="795528" cy="205740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77329" y="726694"/>
            <a:ext cx="795528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OCT</a:t>
            </a:r>
            <a:endParaRPr lang="en-US" sz="675" dirty="0"/>
          </a:p>
        </p:txBody>
      </p:sp>
      <p:sp>
        <p:nvSpPr>
          <p:cNvPr id="24" name="Shape 22"/>
          <p:cNvSpPr/>
          <p:nvPr/>
        </p:nvSpPr>
        <p:spPr>
          <a:xfrm>
            <a:off x="7872857" y="726694"/>
            <a:ext cx="795528" cy="205740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72857" y="726694"/>
            <a:ext cx="795528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NOV</a:t>
            </a:r>
            <a:endParaRPr lang="en-US" sz="675" dirty="0"/>
          </a:p>
        </p:txBody>
      </p:sp>
      <p:sp>
        <p:nvSpPr>
          <p:cNvPr id="34" name="Shape 32"/>
          <p:cNvSpPr/>
          <p:nvPr/>
        </p:nvSpPr>
        <p:spPr>
          <a:xfrm>
            <a:off x="1508633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08633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525" dirty="0"/>
          </a:p>
        </p:txBody>
      </p:sp>
      <p:sp>
        <p:nvSpPr>
          <p:cNvPr id="36" name="Shape 34"/>
          <p:cNvSpPr/>
          <p:nvPr/>
        </p:nvSpPr>
        <p:spPr>
          <a:xfrm>
            <a:off x="1707515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07515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525" dirty="0"/>
          </a:p>
        </p:txBody>
      </p:sp>
      <p:sp>
        <p:nvSpPr>
          <p:cNvPr id="38" name="Shape 36"/>
          <p:cNvSpPr/>
          <p:nvPr/>
        </p:nvSpPr>
        <p:spPr>
          <a:xfrm>
            <a:off x="1906397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06397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525" dirty="0"/>
          </a:p>
        </p:txBody>
      </p:sp>
      <p:sp>
        <p:nvSpPr>
          <p:cNvPr id="40" name="Shape 38"/>
          <p:cNvSpPr/>
          <p:nvPr/>
        </p:nvSpPr>
        <p:spPr>
          <a:xfrm>
            <a:off x="2105279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05279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525" dirty="0"/>
          </a:p>
        </p:txBody>
      </p:sp>
      <p:sp>
        <p:nvSpPr>
          <p:cNvPr id="42" name="Shape 40"/>
          <p:cNvSpPr/>
          <p:nvPr/>
        </p:nvSpPr>
        <p:spPr>
          <a:xfrm>
            <a:off x="2304161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04161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525" dirty="0"/>
          </a:p>
        </p:txBody>
      </p:sp>
      <p:sp>
        <p:nvSpPr>
          <p:cNvPr id="44" name="Shape 42"/>
          <p:cNvSpPr/>
          <p:nvPr/>
        </p:nvSpPr>
        <p:spPr>
          <a:xfrm>
            <a:off x="2503043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03043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525" dirty="0"/>
          </a:p>
        </p:txBody>
      </p:sp>
      <p:sp>
        <p:nvSpPr>
          <p:cNvPr id="46" name="Shape 44"/>
          <p:cNvSpPr/>
          <p:nvPr/>
        </p:nvSpPr>
        <p:spPr>
          <a:xfrm>
            <a:off x="2701925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01925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525" dirty="0"/>
          </a:p>
        </p:txBody>
      </p:sp>
      <p:sp>
        <p:nvSpPr>
          <p:cNvPr id="48" name="Shape 46"/>
          <p:cNvSpPr/>
          <p:nvPr/>
        </p:nvSpPr>
        <p:spPr>
          <a:xfrm>
            <a:off x="2900807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00807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525" dirty="0"/>
          </a:p>
        </p:txBody>
      </p:sp>
      <p:sp>
        <p:nvSpPr>
          <p:cNvPr id="50" name="Shape 48"/>
          <p:cNvSpPr/>
          <p:nvPr/>
        </p:nvSpPr>
        <p:spPr>
          <a:xfrm>
            <a:off x="3099689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99689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525" dirty="0"/>
          </a:p>
        </p:txBody>
      </p:sp>
      <p:sp>
        <p:nvSpPr>
          <p:cNvPr id="52" name="Shape 50"/>
          <p:cNvSpPr/>
          <p:nvPr/>
        </p:nvSpPr>
        <p:spPr>
          <a:xfrm>
            <a:off x="3298571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98571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525" dirty="0"/>
          </a:p>
        </p:txBody>
      </p:sp>
      <p:sp>
        <p:nvSpPr>
          <p:cNvPr id="54" name="Shape 52"/>
          <p:cNvSpPr/>
          <p:nvPr/>
        </p:nvSpPr>
        <p:spPr>
          <a:xfrm>
            <a:off x="3497453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97453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525" dirty="0"/>
          </a:p>
        </p:txBody>
      </p:sp>
      <p:sp>
        <p:nvSpPr>
          <p:cNvPr id="56" name="Shape 54"/>
          <p:cNvSpPr/>
          <p:nvPr/>
        </p:nvSpPr>
        <p:spPr>
          <a:xfrm>
            <a:off x="3696335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96335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525" dirty="0"/>
          </a:p>
        </p:txBody>
      </p:sp>
      <p:sp>
        <p:nvSpPr>
          <p:cNvPr id="58" name="Shape 56"/>
          <p:cNvSpPr/>
          <p:nvPr/>
        </p:nvSpPr>
        <p:spPr>
          <a:xfrm>
            <a:off x="3895217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95217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525" dirty="0"/>
          </a:p>
        </p:txBody>
      </p:sp>
      <p:sp>
        <p:nvSpPr>
          <p:cNvPr id="60" name="Shape 58"/>
          <p:cNvSpPr/>
          <p:nvPr/>
        </p:nvSpPr>
        <p:spPr>
          <a:xfrm>
            <a:off x="4094099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094099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525" dirty="0"/>
          </a:p>
        </p:txBody>
      </p:sp>
      <p:sp>
        <p:nvSpPr>
          <p:cNvPr id="62" name="Shape 60"/>
          <p:cNvSpPr/>
          <p:nvPr/>
        </p:nvSpPr>
        <p:spPr>
          <a:xfrm>
            <a:off x="4292981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92981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525" dirty="0"/>
          </a:p>
        </p:txBody>
      </p:sp>
      <p:sp>
        <p:nvSpPr>
          <p:cNvPr id="64" name="Shape 62"/>
          <p:cNvSpPr/>
          <p:nvPr/>
        </p:nvSpPr>
        <p:spPr>
          <a:xfrm>
            <a:off x="4491863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91863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525" dirty="0"/>
          </a:p>
        </p:txBody>
      </p:sp>
      <p:sp>
        <p:nvSpPr>
          <p:cNvPr id="66" name="Shape 64"/>
          <p:cNvSpPr/>
          <p:nvPr/>
        </p:nvSpPr>
        <p:spPr>
          <a:xfrm>
            <a:off x="4690745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90745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525" dirty="0"/>
          </a:p>
        </p:txBody>
      </p:sp>
      <p:sp>
        <p:nvSpPr>
          <p:cNvPr id="68" name="Shape 66"/>
          <p:cNvSpPr/>
          <p:nvPr/>
        </p:nvSpPr>
        <p:spPr>
          <a:xfrm>
            <a:off x="4889627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89627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525" dirty="0"/>
          </a:p>
        </p:txBody>
      </p:sp>
      <p:sp>
        <p:nvSpPr>
          <p:cNvPr id="70" name="Shape 68"/>
          <p:cNvSpPr/>
          <p:nvPr/>
        </p:nvSpPr>
        <p:spPr>
          <a:xfrm>
            <a:off x="5088509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88509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525" dirty="0"/>
          </a:p>
        </p:txBody>
      </p:sp>
      <p:sp>
        <p:nvSpPr>
          <p:cNvPr id="72" name="Shape 70"/>
          <p:cNvSpPr/>
          <p:nvPr/>
        </p:nvSpPr>
        <p:spPr>
          <a:xfrm>
            <a:off x="5287391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287391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525" dirty="0"/>
          </a:p>
        </p:txBody>
      </p:sp>
      <p:sp>
        <p:nvSpPr>
          <p:cNvPr id="74" name="Shape 72"/>
          <p:cNvSpPr/>
          <p:nvPr/>
        </p:nvSpPr>
        <p:spPr>
          <a:xfrm>
            <a:off x="5486273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486273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525" dirty="0"/>
          </a:p>
        </p:txBody>
      </p:sp>
      <p:sp>
        <p:nvSpPr>
          <p:cNvPr id="76" name="Shape 74"/>
          <p:cNvSpPr/>
          <p:nvPr/>
        </p:nvSpPr>
        <p:spPr>
          <a:xfrm>
            <a:off x="5685155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685155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525" dirty="0"/>
          </a:p>
        </p:txBody>
      </p:sp>
      <p:sp>
        <p:nvSpPr>
          <p:cNvPr id="78" name="Shape 76"/>
          <p:cNvSpPr/>
          <p:nvPr/>
        </p:nvSpPr>
        <p:spPr>
          <a:xfrm>
            <a:off x="5884037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884037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525" dirty="0"/>
          </a:p>
        </p:txBody>
      </p:sp>
      <p:sp>
        <p:nvSpPr>
          <p:cNvPr id="80" name="Shape 78"/>
          <p:cNvSpPr/>
          <p:nvPr/>
        </p:nvSpPr>
        <p:spPr>
          <a:xfrm>
            <a:off x="6082919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082919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525" dirty="0"/>
          </a:p>
        </p:txBody>
      </p:sp>
      <p:sp>
        <p:nvSpPr>
          <p:cNvPr id="82" name="Shape 80"/>
          <p:cNvSpPr/>
          <p:nvPr/>
        </p:nvSpPr>
        <p:spPr>
          <a:xfrm>
            <a:off x="6281801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281801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525" dirty="0"/>
          </a:p>
        </p:txBody>
      </p:sp>
      <p:sp>
        <p:nvSpPr>
          <p:cNvPr id="84" name="Shape 82"/>
          <p:cNvSpPr/>
          <p:nvPr/>
        </p:nvSpPr>
        <p:spPr>
          <a:xfrm>
            <a:off x="6480683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80683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525" dirty="0"/>
          </a:p>
        </p:txBody>
      </p:sp>
      <p:sp>
        <p:nvSpPr>
          <p:cNvPr id="86" name="Shape 84"/>
          <p:cNvSpPr/>
          <p:nvPr/>
        </p:nvSpPr>
        <p:spPr>
          <a:xfrm>
            <a:off x="6679565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679565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525" dirty="0"/>
          </a:p>
        </p:txBody>
      </p:sp>
      <p:sp>
        <p:nvSpPr>
          <p:cNvPr id="88" name="Shape 86"/>
          <p:cNvSpPr/>
          <p:nvPr/>
        </p:nvSpPr>
        <p:spPr>
          <a:xfrm>
            <a:off x="6878447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878447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525" dirty="0"/>
          </a:p>
        </p:txBody>
      </p:sp>
      <p:sp>
        <p:nvSpPr>
          <p:cNvPr id="90" name="Shape 88"/>
          <p:cNvSpPr/>
          <p:nvPr/>
        </p:nvSpPr>
        <p:spPr>
          <a:xfrm>
            <a:off x="7077329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077329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525" dirty="0"/>
          </a:p>
        </p:txBody>
      </p:sp>
      <p:sp>
        <p:nvSpPr>
          <p:cNvPr id="92" name="Shape 90"/>
          <p:cNvSpPr/>
          <p:nvPr/>
        </p:nvSpPr>
        <p:spPr>
          <a:xfrm>
            <a:off x="7276211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276211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525" dirty="0"/>
          </a:p>
        </p:txBody>
      </p:sp>
      <p:sp>
        <p:nvSpPr>
          <p:cNvPr id="94" name="Shape 92"/>
          <p:cNvSpPr/>
          <p:nvPr/>
        </p:nvSpPr>
        <p:spPr>
          <a:xfrm>
            <a:off x="7475093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475093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525" dirty="0"/>
          </a:p>
        </p:txBody>
      </p:sp>
      <p:sp>
        <p:nvSpPr>
          <p:cNvPr id="96" name="Shape 94"/>
          <p:cNvSpPr/>
          <p:nvPr/>
        </p:nvSpPr>
        <p:spPr>
          <a:xfrm>
            <a:off x="7673975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673975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525" dirty="0"/>
          </a:p>
        </p:txBody>
      </p:sp>
      <p:sp>
        <p:nvSpPr>
          <p:cNvPr id="98" name="Shape 96"/>
          <p:cNvSpPr/>
          <p:nvPr/>
        </p:nvSpPr>
        <p:spPr>
          <a:xfrm>
            <a:off x="7872857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872857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525" dirty="0"/>
          </a:p>
        </p:txBody>
      </p:sp>
      <p:sp>
        <p:nvSpPr>
          <p:cNvPr id="100" name="Shape 98"/>
          <p:cNvSpPr/>
          <p:nvPr/>
        </p:nvSpPr>
        <p:spPr>
          <a:xfrm>
            <a:off x="8071739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071739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525" dirty="0"/>
          </a:p>
        </p:txBody>
      </p:sp>
      <p:sp>
        <p:nvSpPr>
          <p:cNvPr id="102" name="Shape 100"/>
          <p:cNvSpPr/>
          <p:nvPr/>
        </p:nvSpPr>
        <p:spPr>
          <a:xfrm>
            <a:off x="8270621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270621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525" dirty="0"/>
          </a:p>
        </p:txBody>
      </p:sp>
      <p:sp>
        <p:nvSpPr>
          <p:cNvPr id="104" name="Shape 102"/>
          <p:cNvSpPr/>
          <p:nvPr/>
        </p:nvSpPr>
        <p:spPr>
          <a:xfrm>
            <a:off x="8469503" y="932434"/>
            <a:ext cx="198882" cy="150876"/>
          </a:xfrm>
          <a:prstGeom prst="rect">
            <a:avLst/>
          </a:prstGeom>
          <a:solidFill>
            <a:srgbClr val="D9D9D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469503" y="932434"/>
            <a:ext cx="198882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525" dirty="0"/>
          </a:p>
        </p:txBody>
      </p:sp>
      <p:sp>
        <p:nvSpPr>
          <p:cNvPr id="106" name="Shape 104"/>
          <p:cNvSpPr/>
          <p:nvPr/>
        </p:nvSpPr>
        <p:spPr>
          <a:xfrm>
            <a:off x="754380" y="1083310"/>
            <a:ext cx="754380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54380" y="1083310"/>
            <a:ext cx="754380" cy="329184"/>
          </a:xfrm>
          <a:prstGeom prst="rect">
            <a:avLst/>
          </a:prstGeom>
          <a:noFill/>
        </p:spPr>
        <p:txBody>
          <a:bodyPr wrap="square" lIns="0" tIns="38100" rIns="0" bIns="0" rtlCol="0" anchor="ctr"/>
          <a:lstStyle/>
          <a:p>
            <a:r>
              <a:rPr lang="en-US" sz="565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FEASIBILITY</a:t>
            </a:r>
            <a:endParaRPr lang="en-US" sz="565" dirty="0"/>
          </a:p>
          <a:p>
            <a:r>
              <a:rPr lang="en-US" sz="565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STUDY</a:t>
            </a:r>
            <a:endParaRPr lang="en-US" sz="565" dirty="0"/>
          </a:p>
        </p:txBody>
      </p:sp>
      <p:sp>
        <p:nvSpPr>
          <p:cNvPr id="112" name="Shape 110"/>
          <p:cNvSpPr/>
          <p:nvPr/>
        </p:nvSpPr>
        <p:spPr>
          <a:xfrm>
            <a:off x="1508633" y="108331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707515" y="108331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906397" y="108331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105279" y="108331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304161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503043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701925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900807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099689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298571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497453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696335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895217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094099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292981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491863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690745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889627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088509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287391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486273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685155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884037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082919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281801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480683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679565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878447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077329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276211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475093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673975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872857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071739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8270621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469503" y="108331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508633" y="1247902"/>
            <a:ext cx="198882" cy="164592"/>
          </a:xfrm>
          <a:prstGeom prst="rect">
            <a:avLst/>
          </a:prstGeom>
          <a:solidFill>
            <a:srgbClr val="00B05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707515" y="1247902"/>
            <a:ext cx="198882" cy="164592"/>
          </a:xfrm>
          <a:prstGeom prst="rect">
            <a:avLst/>
          </a:prstGeom>
          <a:solidFill>
            <a:srgbClr val="00B05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906397" y="1247902"/>
            <a:ext cx="198882" cy="164592"/>
          </a:xfrm>
          <a:prstGeom prst="rect">
            <a:avLst/>
          </a:prstGeom>
          <a:solidFill>
            <a:srgbClr val="00B05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2105279" y="1247902"/>
            <a:ext cx="198882" cy="164592"/>
          </a:xfrm>
          <a:prstGeom prst="rect">
            <a:avLst/>
          </a:prstGeom>
          <a:solidFill>
            <a:srgbClr val="00B05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2304161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503043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701925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2900807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3099689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3298571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497453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3696335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895217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4094099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4292981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491863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690745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4889627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088509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5287391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5486273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5685155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884037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082919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281801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480683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679565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878447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077329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276211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475093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673975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872857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071739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8270621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8469503" y="1247902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54380" y="1413129"/>
            <a:ext cx="7543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754380" y="1412494"/>
            <a:ext cx="754380" cy="329184"/>
          </a:xfrm>
          <a:prstGeom prst="rect">
            <a:avLst/>
          </a:prstGeom>
          <a:noFill/>
        </p:spPr>
        <p:txBody>
          <a:bodyPr wrap="square" lIns="0" tIns="38100" rIns="0" bIns="0" rtlCol="0" anchor="ctr"/>
          <a:lstStyle/>
          <a:p>
            <a:r>
              <a:rPr lang="en-US" sz="565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LITERATURE</a:t>
            </a:r>
            <a:endParaRPr lang="en-US" sz="565" dirty="0"/>
          </a:p>
          <a:p>
            <a:r>
              <a:rPr lang="en-US" sz="565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SURVEY</a:t>
            </a:r>
            <a:endParaRPr lang="en-US" sz="565" dirty="0"/>
          </a:p>
        </p:txBody>
      </p:sp>
      <p:sp>
        <p:nvSpPr>
          <p:cNvPr id="194" name="Shape 192"/>
          <p:cNvSpPr/>
          <p:nvPr/>
        </p:nvSpPr>
        <p:spPr>
          <a:xfrm>
            <a:off x="1508633" y="1412494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</p:sp>
      <p:sp>
        <p:nvSpPr>
          <p:cNvPr id="195" name="Shape 193"/>
          <p:cNvSpPr/>
          <p:nvPr/>
        </p:nvSpPr>
        <p:spPr>
          <a:xfrm>
            <a:off x="1707515" y="1412494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</p:sp>
      <p:sp>
        <p:nvSpPr>
          <p:cNvPr id="196" name="Shape 194"/>
          <p:cNvSpPr/>
          <p:nvPr/>
        </p:nvSpPr>
        <p:spPr>
          <a:xfrm>
            <a:off x="1906397" y="1412494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</p:sp>
      <p:sp>
        <p:nvSpPr>
          <p:cNvPr id="197" name="Shape 195"/>
          <p:cNvSpPr/>
          <p:nvPr/>
        </p:nvSpPr>
        <p:spPr>
          <a:xfrm>
            <a:off x="2105279" y="1412494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</p:sp>
      <p:sp>
        <p:nvSpPr>
          <p:cNvPr id="198" name="Shape 196"/>
          <p:cNvSpPr/>
          <p:nvPr/>
        </p:nvSpPr>
        <p:spPr>
          <a:xfrm>
            <a:off x="2304161" y="1412494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2503043" y="1412494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2701925" y="1412494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2900807" y="1412494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3099689" y="1412494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3298571" y="1412494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3497453" y="1412494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3696335" y="1412494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3895217" y="1412494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4094099" y="1412494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4292981" y="1412494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4491863" y="1412494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4690745" y="1412494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4889627" y="1412494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5088509" y="1412494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5287391" y="1412494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5486273" y="1412494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5685155" y="1412494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5884037" y="1412494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6082919" y="1412494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281801" y="1412494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6480683" y="1412494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6679565" y="1412494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6878447" y="1412494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077329" y="141249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276211" y="141249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475093" y="141249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673975" y="141249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872857" y="141249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071739" y="141249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270621" y="141249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469503" y="141249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508633" y="1577086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375623"/>
                </a:solidFill>
              </a14:hiddenFill>
            </a:ext>
          </a:extLst>
        </p:spPr>
      </p:sp>
      <p:sp>
        <p:nvSpPr>
          <p:cNvPr id="235" name="Shape 233"/>
          <p:cNvSpPr/>
          <p:nvPr/>
        </p:nvSpPr>
        <p:spPr>
          <a:xfrm>
            <a:off x="1707515" y="1577086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375623"/>
                </a:solidFill>
              </a14:hiddenFill>
            </a:ext>
          </a:extLst>
        </p:spPr>
      </p:sp>
      <p:sp>
        <p:nvSpPr>
          <p:cNvPr id="236" name="Shape 234"/>
          <p:cNvSpPr/>
          <p:nvPr/>
        </p:nvSpPr>
        <p:spPr>
          <a:xfrm>
            <a:off x="1906397" y="1577086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375623"/>
                </a:solidFill>
              </a14:hiddenFill>
            </a:ext>
          </a:extLst>
        </p:spPr>
      </p:sp>
      <p:sp>
        <p:nvSpPr>
          <p:cNvPr id="237" name="Shape 235"/>
          <p:cNvSpPr/>
          <p:nvPr/>
        </p:nvSpPr>
        <p:spPr>
          <a:xfrm>
            <a:off x="2105279" y="1577086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375623"/>
                </a:solidFill>
              </a14:hiddenFill>
            </a:ext>
          </a:extLst>
        </p:spPr>
      </p:sp>
      <p:sp>
        <p:nvSpPr>
          <p:cNvPr id="238" name="Shape 236"/>
          <p:cNvSpPr/>
          <p:nvPr/>
        </p:nvSpPr>
        <p:spPr>
          <a:xfrm>
            <a:off x="2304161" y="1577086"/>
            <a:ext cx="198882" cy="164592"/>
          </a:xfrm>
          <a:prstGeom prst="rect">
            <a:avLst/>
          </a:prstGeom>
          <a:solidFill>
            <a:srgbClr val="00B05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2503043" y="1577086"/>
            <a:ext cx="198882" cy="164592"/>
          </a:xfrm>
          <a:prstGeom prst="rect">
            <a:avLst/>
          </a:prstGeom>
          <a:solidFill>
            <a:srgbClr val="00B05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2701925" y="1577086"/>
            <a:ext cx="198882" cy="164592"/>
          </a:xfrm>
          <a:prstGeom prst="rect">
            <a:avLst/>
          </a:prstGeom>
          <a:solidFill>
            <a:srgbClr val="00B05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2900807" y="1577086"/>
            <a:ext cx="198882" cy="164592"/>
          </a:xfrm>
          <a:prstGeom prst="rect">
            <a:avLst/>
          </a:prstGeom>
          <a:solidFill>
            <a:srgbClr val="00B05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3099689" y="1577086"/>
            <a:ext cx="198882" cy="164592"/>
          </a:xfrm>
          <a:prstGeom prst="rect">
            <a:avLst/>
          </a:prstGeom>
          <a:solidFill>
            <a:srgbClr val="00B05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3298571" y="1577086"/>
            <a:ext cx="198882" cy="164592"/>
          </a:xfrm>
          <a:prstGeom prst="rect">
            <a:avLst/>
          </a:prstGeom>
          <a:solidFill>
            <a:srgbClr val="00B05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3497453" y="1577086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3696335" y="1577086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3895217" y="1577086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4094099" y="1577086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4292981" y="1577086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4491863" y="1577086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4690745" y="1577086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4889627" y="1577086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5088509" y="1577086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5287391" y="1577086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5486273" y="1577086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5685155" y="1577086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5884037" y="1577086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6082919" y="1577086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6281801" y="1577086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6480683" y="1577086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6679565" y="1577086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6878447" y="1577086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077329" y="1577086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7276211" y="1577086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7475093" y="1577086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7673975" y="1577086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7872857" y="1577086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8071739" y="1577086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8270621" y="1577086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8469503" y="1577086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754380" y="1741678"/>
            <a:ext cx="754380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754380" y="1741678"/>
            <a:ext cx="754380" cy="329184"/>
          </a:xfrm>
          <a:prstGeom prst="rect">
            <a:avLst/>
          </a:prstGeom>
          <a:noFill/>
        </p:spPr>
        <p:txBody>
          <a:bodyPr wrap="square" lIns="0" tIns="38100" rIns="0" bIns="0" rtlCol="0" anchor="ctr"/>
          <a:lstStyle/>
          <a:p>
            <a:r>
              <a:rPr lang="en-US" sz="565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SYSTEM</a:t>
            </a:r>
            <a:endParaRPr lang="en-US" sz="565" dirty="0"/>
          </a:p>
          <a:p>
            <a:r>
              <a:rPr lang="en-US" sz="565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DESIGN</a:t>
            </a:r>
            <a:endParaRPr lang="en-US" sz="565" dirty="0"/>
          </a:p>
        </p:txBody>
      </p:sp>
      <p:sp>
        <p:nvSpPr>
          <p:cNvPr id="276" name="Shape 274"/>
          <p:cNvSpPr/>
          <p:nvPr/>
        </p:nvSpPr>
        <p:spPr>
          <a:xfrm>
            <a:off x="1508633" y="174167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1707515" y="174167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1906397" y="174167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2105279" y="174167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2304161" y="174167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2503043" y="1741678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</p:sp>
      <p:sp>
        <p:nvSpPr>
          <p:cNvPr id="282" name="Shape 280"/>
          <p:cNvSpPr/>
          <p:nvPr/>
        </p:nvSpPr>
        <p:spPr>
          <a:xfrm>
            <a:off x="2701925" y="1741678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</p:sp>
      <p:sp>
        <p:nvSpPr>
          <p:cNvPr id="283" name="Shape 281"/>
          <p:cNvSpPr/>
          <p:nvPr/>
        </p:nvSpPr>
        <p:spPr>
          <a:xfrm>
            <a:off x="2900807" y="1741678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</p:sp>
      <p:sp>
        <p:nvSpPr>
          <p:cNvPr id="284" name="Shape 282"/>
          <p:cNvSpPr/>
          <p:nvPr/>
        </p:nvSpPr>
        <p:spPr>
          <a:xfrm>
            <a:off x="3099689" y="1741678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3298571" y="1741678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3497453" y="1741678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3696335" y="1741678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3895217" y="1741678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4094099" y="1741678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4292981" y="1741678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4491863" y="1741678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4690745" y="174167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4889627" y="174167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5088509" y="174167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5287391" y="174167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5486273" y="174167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5685155" y="174167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5884037" y="174167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6082919" y="174167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6281801" y="174167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6480683" y="174167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6679565" y="174167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6878447" y="174167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7077329" y="174167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7276211" y="174167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7475093" y="174167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7673975" y="174167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7872857" y="174167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8071739" y="174167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8270621" y="174167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8469503" y="174167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1508633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707515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906397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2105279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2304161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2503043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2701925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2900807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3099689" y="1906270"/>
            <a:ext cx="198882" cy="164592"/>
          </a:xfrm>
          <a:prstGeom prst="rect">
            <a:avLst/>
          </a:prstGeom>
          <a:solidFill>
            <a:srgbClr val="00B05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3298571" y="1906270"/>
            <a:ext cx="198882" cy="164592"/>
          </a:xfrm>
          <a:prstGeom prst="rect">
            <a:avLst/>
          </a:prstGeom>
          <a:solidFill>
            <a:srgbClr val="00B05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3497453" y="1906270"/>
            <a:ext cx="198882" cy="164592"/>
          </a:xfrm>
          <a:prstGeom prst="rect">
            <a:avLst/>
          </a:prstGeom>
          <a:solidFill>
            <a:srgbClr val="00B05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3696335" y="1906270"/>
            <a:ext cx="198882" cy="164592"/>
          </a:xfrm>
          <a:prstGeom prst="rect">
            <a:avLst/>
          </a:prstGeom>
          <a:solidFill>
            <a:srgbClr val="00B05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3895217" y="1906270"/>
            <a:ext cx="198882" cy="164592"/>
          </a:xfrm>
          <a:prstGeom prst="rect">
            <a:avLst/>
          </a:prstGeom>
          <a:solidFill>
            <a:srgbClr val="00B05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4094099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4292981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4491863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4690745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4889627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5088509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5287391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5486273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5685155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5884037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6082919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6281801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6480683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6679565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6878447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7077329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7276211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7475093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7673975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7872857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8071739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8270621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8469503" y="1906270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754380" y="2070862"/>
            <a:ext cx="7543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53" name="Text 351"/>
          <p:cNvSpPr/>
          <p:nvPr/>
        </p:nvSpPr>
        <p:spPr>
          <a:xfrm>
            <a:off x="754380" y="2070862"/>
            <a:ext cx="754380" cy="329184"/>
          </a:xfrm>
          <a:prstGeom prst="rect">
            <a:avLst/>
          </a:prstGeom>
          <a:noFill/>
        </p:spPr>
        <p:txBody>
          <a:bodyPr wrap="square" lIns="0" tIns="38100" rIns="0" bIns="0" rtlCol="0" anchor="ctr"/>
          <a:lstStyle/>
          <a:p>
            <a:r>
              <a:rPr lang="en-US" sz="565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SYSTEM</a:t>
            </a:r>
            <a:endParaRPr lang="en-US" sz="565" dirty="0"/>
          </a:p>
          <a:p>
            <a:r>
              <a:rPr lang="en-US" sz="565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DEVELOPMENT</a:t>
            </a:r>
            <a:endParaRPr lang="en-US" sz="565" dirty="0"/>
          </a:p>
        </p:txBody>
      </p:sp>
      <p:sp>
        <p:nvSpPr>
          <p:cNvPr id="358" name="Shape 356"/>
          <p:cNvSpPr/>
          <p:nvPr/>
        </p:nvSpPr>
        <p:spPr>
          <a:xfrm>
            <a:off x="1508633" y="207086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1707515" y="207086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1906397" y="207086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2105279" y="207086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2304161" y="207086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2503043" y="207086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2701925" y="207086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2900807" y="207086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3099689" y="207086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3298571" y="207086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3497453" y="207086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3696335" y="207086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3895217" y="2070862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</p:sp>
      <p:sp>
        <p:nvSpPr>
          <p:cNvPr id="371" name="Shape 369"/>
          <p:cNvSpPr/>
          <p:nvPr/>
        </p:nvSpPr>
        <p:spPr>
          <a:xfrm>
            <a:off x="4094099" y="2070862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</p:sp>
      <p:sp>
        <p:nvSpPr>
          <p:cNvPr id="372" name="Shape 370"/>
          <p:cNvSpPr/>
          <p:nvPr/>
        </p:nvSpPr>
        <p:spPr>
          <a:xfrm>
            <a:off x="4292981" y="2070862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</p:sp>
      <p:sp>
        <p:nvSpPr>
          <p:cNvPr id="373" name="Shape 371"/>
          <p:cNvSpPr/>
          <p:nvPr/>
        </p:nvSpPr>
        <p:spPr>
          <a:xfrm>
            <a:off x="4491863" y="2070862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</p:sp>
      <p:sp>
        <p:nvSpPr>
          <p:cNvPr id="374" name="Shape 372"/>
          <p:cNvSpPr/>
          <p:nvPr/>
        </p:nvSpPr>
        <p:spPr>
          <a:xfrm>
            <a:off x="4690745" y="2070862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4889627" y="2070862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5088509" y="2070862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5287391" y="2070862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5486273" y="2070862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5685155" y="2070862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5884037" y="2070862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6082919" y="2070862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6281801" y="207086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6480683" y="207086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6679565" y="207086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6878447" y="207086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7077329" y="207086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7276211" y="207086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7475093" y="207086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7673975" y="207086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7872857" y="207086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8071739" y="207086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8270621" y="207086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8469503" y="207086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1508633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1707515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1906397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2105279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2304161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2503043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2701925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2900807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3099689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3298571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3497453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3696335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3895217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4094099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4292981" y="2235454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375623"/>
                </a:solidFill>
              </a14:hiddenFill>
            </a:ext>
          </a:extLst>
        </p:spPr>
      </p:sp>
      <p:sp>
        <p:nvSpPr>
          <p:cNvPr id="413" name="Shape 411"/>
          <p:cNvSpPr/>
          <p:nvPr/>
        </p:nvSpPr>
        <p:spPr>
          <a:xfrm>
            <a:off x="4491863" y="2235454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375623"/>
                </a:solidFill>
              </a14:hiddenFill>
            </a:ext>
          </a:extLst>
        </p:spPr>
      </p:sp>
      <p:sp>
        <p:nvSpPr>
          <p:cNvPr id="414" name="Shape 412"/>
          <p:cNvSpPr/>
          <p:nvPr/>
        </p:nvSpPr>
        <p:spPr>
          <a:xfrm>
            <a:off x="4690745" y="2235454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375623"/>
                </a:solidFill>
              </a14:hiddenFill>
            </a:ext>
          </a:extLst>
        </p:spPr>
      </p:sp>
      <p:sp>
        <p:nvSpPr>
          <p:cNvPr id="415" name="Shape 413"/>
          <p:cNvSpPr/>
          <p:nvPr/>
        </p:nvSpPr>
        <p:spPr>
          <a:xfrm>
            <a:off x="4889627" y="2235454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375623"/>
                </a:solidFill>
              </a14:hiddenFill>
            </a:ext>
          </a:extLst>
        </p:spPr>
      </p:sp>
      <p:sp>
        <p:nvSpPr>
          <p:cNvPr id="416" name="Shape 414"/>
          <p:cNvSpPr/>
          <p:nvPr/>
        </p:nvSpPr>
        <p:spPr>
          <a:xfrm>
            <a:off x="5088509" y="2235454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375623"/>
                </a:solidFill>
              </a14:hiddenFill>
            </a:ext>
          </a:extLst>
        </p:spPr>
      </p:sp>
      <p:sp>
        <p:nvSpPr>
          <p:cNvPr id="417" name="Shape 415"/>
          <p:cNvSpPr/>
          <p:nvPr/>
        </p:nvSpPr>
        <p:spPr>
          <a:xfrm>
            <a:off x="5287391" y="2235454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375623"/>
                </a:solidFill>
              </a14:hiddenFill>
            </a:ext>
          </a:extLst>
        </p:spPr>
      </p:sp>
      <p:sp>
        <p:nvSpPr>
          <p:cNvPr id="418" name="Shape 416"/>
          <p:cNvSpPr/>
          <p:nvPr/>
        </p:nvSpPr>
        <p:spPr>
          <a:xfrm>
            <a:off x="5486273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5685155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5884037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6082919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6281801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6480683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6679565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6878447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7077329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7276211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7475093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7673975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7872857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8071739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8270621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>
            <a:off x="8469503" y="2235454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754380" y="2400046"/>
            <a:ext cx="754380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35" name="Text 433"/>
          <p:cNvSpPr/>
          <p:nvPr/>
        </p:nvSpPr>
        <p:spPr>
          <a:xfrm>
            <a:off x="754380" y="2400046"/>
            <a:ext cx="754380" cy="329184"/>
          </a:xfrm>
          <a:prstGeom prst="rect">
            <a:avLst/>
          </a:prstGeom>
          <a:noFill/>
        </p:spPr>
        <p:txBody>
          <a:bodyPr wrap="square" lIns="0" tIns="38100" rIns="0" bIns="0" rtlCol="0" anchor="ctr"/>
          <a:lstStyle/>
          <a:p>
            <a:r>
              <a:rPr lang="en-US" sz="565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TESTING &amp;</a:t>
            </a:r>
            <a:endParaRPr lang="en-US" sz="565" dirty="0"/>
          </a:p>
          <a:p>
            <a:r>
              <a:rPr lang="en-US" sz="565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DEBUGGING</a:t>
            </a:r>
            <a:endParaRPr lang="en-US" sz="565" dirty="0"/>
          </a:p>
        </p:txBody>
      </p:sp>
      <p:sp>
        <p:nvSpPr>
          <p:cNvPr id="440" name="Shape 438"/>
          <p:cNvSpPr/>
          <p:nvPr/>
        </p:nvSpPr>
        <p:spPr>
          <a:xfrm>
            <a:off x="1508633" y="2400046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1707515" y="2400046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1906397" y="2400046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2105279" y="2400046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2304161" y="2400046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2503043" y="2400046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2701925" y="2400046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2900807" y="2400046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3099689" y="2400046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3298571" y="2400046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3497453" y="2400046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3696335" y="2400046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3895217" y="2400046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4094099" y="2400046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4292981" y="2400046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4491863" y="2400046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4690745" y="2400046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4889627" y="2400046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5088509" y="2400046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>
            <a:off x="5287391" y="2400046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5486273" y="2400046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</p:sp>
      <p:sp>
        <p:nvSpPr>
          <p:cNvPr id="461" name="Shape 459"/>
          <p:cNvSpPr/>
          <p:nvPr/>
        </p:nvSpPr>
        <p:spPr>
          <a:xfrm>
            <a:off x="5685155" y="2400046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</p:sp>
      <p:sp>
        <p:nvSpPr>
          <p:cNvPr id="462" name="Shape 460"/>
          <p:cNvSpPr/>
          <p:nvPr/>
        </p:nvSpPr>
        <p:spPr>
          <a:xfrm>
            <a:off x="5884037" y="2400046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</p:sp>
      <p:sp>
        <p:nvSpPr>
          <p:cNvPr id="463" name="Shape 461"/>
          <p:cNvSpPr/>
          <p:nvPr/>
        </p:nvSpPr>
        <p:spPr>
          <a:xfrm>
            <a:off x="6082919" y="2400046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</p:sp>
      <p:sp>
        <p:nvSpPr>
          <p:cNvPr id="464" name="Shape 462"/>
          <p:cNvSpPr/>
          <p:nvPr/>
        </p:nvSpPr>
        <p:spPr>
          <a:xfrm>
            <a:off x="6281801" y="2400046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>
            <a:off x="6480683" y="2400046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6679565" y="2400046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6878447" y="2400046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7077329" y="2400046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>
            <a:off x="7276211" y="2400046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7475093" y="2400046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7673975" y="2400046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7872857" y="2400046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8071739" y="2400046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8270621" y="2400046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>
            <a:off x="8469503" y="2400046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1508633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1707515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1906397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2105279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2304161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2503043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2701925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>
            <a:off x="2900807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>
            <a:off x="3099689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3298571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3497453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3696335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3895217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4094099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>
            <a:off x="4292981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4491863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4690745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4889627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5088509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>
            <a:off x="5287391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>
            <a:off x="5486273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5685155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>
            <a:off x="5884037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>
            <a:off x="6082919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>
            <a:off x="6281801" y="2564638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375623"/>
                </a:solidFill>
              </a14:hiddenFill>
            </a:ext>
          </a:extLst>
        </p:spPr>
      </p:sp>
      <p:sp>
        <p:nvSpPr>
          <p:cNvPr id="505" name="Shape 503"/>
          <p:cNvSpPr/>
          <p:nvPr/>
        </p:nvSpPr>
        <p:spPr>
          <a:xfrm>
            <a:off x="6480683" y="2564638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375623"/>
                </a:solidFill>
              </a14:hiddenFill>
            </a:ext>
          </a:extLst>
        </p:spPr>
      </p:sp>
      <p:sp>
        <p:nvSpPr>
          <p:cNvPr id="506" name="Shape 504"/>
          <p:cNvSpPr/>
          <p:nvPr/>
        </p:nvSpPr>
        <p:spPr>
          <a:xfrm>
            <a:off x="6679565" y="2564638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375623"/>
                </a:solidFill>
              </a14:hiddenFill>
            </a:ext>
          </a:extLst>
        </p:spPr>
      </p:sp>
      <p:sp>
        <p:nvSpPr>
          <p:cNvPr id="507" name="Shape 505"/>
          <p:cNvSpPr/>
          <p:nvPr/>
        </p:nvSpPr>
        <p:spPr>
          <a:xfrm>
            <a:off x="6878447" y="2564638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375623"/>
                </a:solidFill>
              </a14:hiddenFill>
            </a:ext>
          </a:extLst>
        </p:spPr>
      </p:sp>
      <p:sp>
        <p:nvSpPr>
          <p:cNvPr id="508" name="Shape 506"/>
          <p:cNvSpPr/>
          <p:nvPr/>
        </p:nvSpPr>
        <p:spPr>
          <a:xfrm>
            <a:off x="7077329" y="2564638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375623"/>
                </a:solidFill>
              </a14:hiddenFill>
            </a:ext>
          </a:extLst>
        </p:spPr>
      </p:sp>
      <p:sp>
        <p:nvSpPr>
          <p:cNvPr id="509" name="Shape 507"/>
          <p:cNvSpPr/>
          <p:nvPr/>
        </p:nvSpPr>
        <p:spPr>
          <a:xfrm>
            <a:off x="7276211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>
            <a:off x="7475093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>
            <a:off x="7673975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7872857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8071739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>
            <a:off x="8270621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15" name="Shape 513"/>
          <p:cNvSpPr/>
          <p:nvPr/>
        </p:nvSpPr>
        <p:spPr>
          <a:xfrm>
            <a:off x="8469503" y="2564638"/>
            <a:ext cx="198882" cy="164592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754380" y="2729230"/>
            <a:ext cx="7543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17" name="Text 515"/>
          <p:cNvSpPr/>
          <p:nvPr/>
        </p:nvSpPr>
        <p:spPr>
          <a:xfrm>
            <a:off x="754380" y="2729230"/>
            <a:ext cx="754380" cy="329184"/>
          </a:xfrm>
          <a:prstGeom prst="rect">
            <a:avLst/>
          </a:prstGeom>
          <a:noFill/>
        </p:spPr>
        <p:txBody>
          <a:bodyPr wrap="square" lIns="0" tIns="38100" rIns="0" bIns="0" rtlCol="0" anchor="ctr"/>
          <a:lstStyle/>
          <a:p>
            <a:r>
              <a:rPr lang="en-US" sz="565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PROJECT</a:t>
            </a:r>
            <a:endParaRPr lang="en-US" sz="565" dirty="0"/>
          </a:p>
          <a:p>
            <a:r>
              <a:rPr lang="en-US" sz="565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DOCUMENTATION</a:t>
            </a:r>
            <a:endParaRPr lang="en-US" sz="565" dirty="0"/>
          </a:p>
        </p:txBody>
      </p:sp>
      <p:sp>
        <p:nvSpPr>
          <p:cNvPr id="522" name="Shape 520"/>
          <p:cNvSpPr/>
          <p:nvPr/>
        </p:nvSpPr>
        <p:spPr>
          <a:xfrm>
            <a:off x="1508633" y="2729230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>
            <a:off x="1707515" y="2729230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>
            <a:off x="1906397" y="2729230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>
            <a:off x="2105279" y="2729230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2304161" y="2729230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>
            <a:off x="2503043" y="2729230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2701925" y="2729230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29" name="Shape 527"/>
          <p:cNvSpPr/>
          <p:nvPr/>
        </p:nvSpPr>
        <p:spPr>
          <a:xfrm>
            <a:off x="2900807" y="2729230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>
            <a:off x="3099689" y="2729230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>
            <a:off x="3298571" y="2729230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>
            <a:off x="3497453" y="272923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>
            <a:off x="3696335" y="272923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>
            <a:off x="3895217" y="272923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35" name="Shape 533"/>
          <p:cNvSpPr/>
          <p:nvPr/>
        </p:nvSpPr>
        <p:spPr>
          <a:xfrm>
            <a:off x="4094099" y="272923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4292981" y="272923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>
            <a:off x="4491863" y="272923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>
            <a:off x="4690745" y="272923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>
            <a:off x="4889627" y="272923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>
            <a:off x="5088509" y="272923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5287391" y="272923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>
            <a:off x="5486273" y="272923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>
            <a:off x="5685155" y="272923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>
            <a:off x="5884037" y="272923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45" name="Shape 543"/>
          <p:cNvSpPr/>
          <p:nvPr/>
        </p:nvSpPr>
        <p:spPr>
          <a:xfrm>
            <a:off x="6082919" y="272923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46" name="Shape 544"/>
          <p:cNvSpPr/>
          <p:nvPr/>
        </p:nvSpPr>
        <p:spPr>
          <a:xfrm>
            <a:off x="6281801" y="272923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6480683" y="272923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6679565" y="272923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6878447" y="272923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50" name="Shape 548"/>
          <p:cNvSpPr/>
          <p:nvPr/>
        </p:nvSpPr>
        <p:spPr>
          <a:xfrm>
            <a:off x="7077329" y="272923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51" name="Shape 549"/>
          <p:cNvSpPr/>
          <p:nvPr/>
        </p:nvSpPr>
        <p:spPr>
          <a:xfrm>
            <a:off x="7276211" y="272923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52" name="Shape 550"/>
          <p:cNvSpPr/>
          <p:nvPr/>
        </p:nvSpPr>
        <p:spPr>
          <a:xfrm>
            <a:off x="7475093" y="272923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>
            <a:off x="7673975" y="272923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>
            <a:off x="7872857" y="272923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>
            <a:off x="8071739" y="272923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56" name="Shape 554"/>
          <p:cNvSpPr/>
          <p:nvPr/>
        </p:nvSpPr>
        <p:spPr>
          <a:xfrm>
            <a:off x="8270621" y="272923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57" name="Shape 555"/>
          <p:cNvSpPr/>
          <p:nvPr/>
        </p:nvSpPr>
        <p:spPr>
          <a:xfrm>
            <a:off x="8469503" y="2729230"/>
            <a:ext cx="198882" cy="164592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62" name="Shape 560"/>
          <p:cNvSpPr/>
          <p:nvPr/>
        </p:nvSpPr>
        <p:spPr>
          <a:xfrm>
            <a:off x="1508633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63" name="Shape 561"/>
          <p:cNvSpPr/>
          <p:nvPr/>
        </p:nvSpPr>
        <p:spPr>
          <a:xfrm>
            <a:off x="1707515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64" name="Shape 562"/>
          <p:cNvSpPr/>
          <p:nvPr/>
        </p:nvSpPr>
        <p:spPr>
          <a:xfrm>
            <a:off x="1906397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>
            <a:off x="2105279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>
            <a:off x="2304161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>
            <a:off x="2503043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68" name="Shape 566"/>
          <p:cNvSpPr/>
          <p:nvPr/>
        </p:nvSpPr>
        <p:spPr>
          <a:xfrm>
            <a:off x="2701925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69" name="Shape 567"/>
          <p:cNvSpPr/>
          <p:nvPr/>
        </p:nvSpPr>
        <p:spPr>
          <a:xfrm>
            <a:off x="2900807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70" name="Shape 568"/>
          <p:cNvSpPr/>
          <p:nvPr/>
        </p:nvSpPr>
        <p:spPr>
          <a:xfrm>
            <a:off x="3099689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71" name="Shape 569"/>
          <p:cNvSpPr/>
          <p:nvPr/>
        </p:nvSpPr>
        <p:spPr>
          <a:xfrm>
            <a:off x="3298571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72" name="Shape 570"/>
          <p:cNvSpPr/>
          <p:nvPr/>
        </p:nvSpPr>
        <p:spPr>
          <a:xfrm>
            <a:off x="3497453" y="2893822"/>
            <a:ext cx="198882" cy="164592"/>
          </a:xfrm>
          <a:prstGeom prst="rect">
            <a:avLst/>
          </a:prstGeom>
          <a:solidFill>
            <a:srgbClr val="00B05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73" name="Shape 571"/>
          <p:cNvSpPr/>
          <p:nvPr/>
        </p:nvSpPr>
        <p:spPr>
          <a:xfrm>
            <a:off x="3696335" y="2893822"/>
            <a:ext cx="198882" cy="164592"/>
          </a:xfrm>
          <a:prstGeom prst="rect">
            <a:avLst/>
          </a:prstGeom>
          <a:solidFill>
            <a:srgbClr val="00B05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74" name="Shape 572"/>
          <p:cNvSpPr/>
          <p:nvPr/>
        </p:nvSpPr>
        <p:spPr>
          <a:xfrm>
            <a:off x="3895217" y="2893822"/>
            <a:ext cx="198882" cy="164592"/>
          </a:xfrm>
          <a:prstGeom prst="rect">
            <a:avLst/>
          </a:prstGeom>
          <a:solidFill>
            <a:srgbClr val="00B05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75" name="Shape 573"/>
          <p:cNvSpPr/>
          <p:nvPr/>
        </p:nvSpPr>
        <p:spPr>
          <a:xfrm>
            <a:off x="4094099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76" name="Shape 574"/>
          <p:cNvSpPr/>
          <p:nvPr/>
        </p:nvSpPr>
        <p:spPr>
          <a:xfrm>
            <a:off x="4292981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77" name="Shape 575"/>
          <p:cNvSpPr/>
          <p:nvPr/>
        </p:nvSpPr>
        <p:spPr>
          <a:xfrm>
            <a:off x="4491863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78" name="Shape 576"/>
          <p:cNvSpPr/>
          <p:nvPr/>
        </p:nvSpPr>
        <p:spPr>
          <a:xfrm>
            <a:off x="4690745" y="2893822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375623"/>
                </a:solidFill>
              </a14:hiddenFill>
            </a:ext>
          </a:extLst>
        </p:spPr>
      </p:sp>
      <p:sp>
        <p:nvSpPr>
          <p:cNvPr id="579" name="Shape 577"/>
          <p:cNvSpPr/>
          <p:nvPr/>
        </p:nvSpPr>
        <p:spPr>
          <a:xfrm>
            <a:off x="4889627" y="2893822"/>
            <a:ext cx="198882" cy="164592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375623"/>
                </a:solidFill>
              </a14:hiddenFill>
            </a:ext>
          </a:extLst>
        </p:spPr>
      </p:sp>
      <p:sp>
        <p:nvSpPr>
          <p:cNvPr id="580" name="Shape 578"/>
          <p:cNvSpPr/>
          <p:nvPr/>
        </p:nvSpPr>
        <p:spPr>
          <a:xfrm>
            <a:off x="5088509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81" name="Shape 579"/>
          <p:cNvSpPr/>
          <p:nvPr/>
        </p:nvSpPr>
        <p:spPr>
          <a:xfrm>
            <a:off x="5287391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82" name="Shape 580"/>
          <p:cNvSpPr/>
          <p:nvPr/>
        </p:nvSpPr>
        <p:spPr>
          <a:xfrm>
            <a:off x="5486273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83" name="Shape 581"/>
          <p:cNvSpPr/>
          <p:nvPr/>
        </p:nvSpPr>
        <p:spPr>
          <a:xfrm>
            <a:off x="5685155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84" name="Shape 582"/>
          <p:cNvSpPr/>
          <p:nvPr/>
        </p:nvSpPr>
        <p:spPr>
          <a:xfrm>
            <a:off x="5884037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85" name="Shape 583"/>
          <p:cNvSpPr/>
          <p:nvPr/>
        </p:nvSpPr>
        <p:spPr>
          <a:xfrm>
            <a:off x="6082919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86" name="Shape 584"/>
          <p:cNvSpPr/>
          <p:nvPr/>
        </p:nvSpPr>
        <p:spPr>
          <a:xfrm>
            <a:off x="6281801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87" name="Shape 585"/>
          <p:cNvSpPr/>
          <p:nvPr/>
        </p:nvSpPr>
        <p:spPr>
          <a:xfrm>
            <a:off x="6480683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88" name="Shape 586"/>
          <p:cNvSpPr/>
          <p:nvPr/>
        </p:nvSpPr>
        <p:spPr>
          <a:xfrm>
            <a:off x="6679565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89" name="Shape 587"/>
          <p:cNvSpPr/>
          <p:nvPr/>
        </p:nvSpPr>
        <p:spPr>
          <a:xfrm>
            <a:off x="6878447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90" name="Shape 588"/>
          <p:cNvSpPr/>
          <p:nvPr/>
        </p:nvSpPr>
        <p:spPr>
          <a:xfrm>
            <a:off x="7077329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91" name="Shape 589"/>
          <p:cNvSpPr/>
          <p:nvPr/>
        </p:nvSpPr>
        <p:spPr>
          <a:xfrm>
            <a:off x="7276211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92" name="Shape 590"/>
          <p:cNvSpPr/>
          <p:nvPr/>
        </p:nvSpPr>
        <p:spPr>
          <a:xfrm>
            <a:off x="7475093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93" name="Shape 591"/>
          <p:cNvSpPr/>
          <p:nvPr/>
        </p:nvSpPr>
        <p:spPr>
          <a:xfrm>
            <a:off x="7673975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94" name="Shape 592"/>
          <p:cNvSpPr/>
          <p:nvPr/>
        </p:nvSpPr>
        <p:spPr>
          <a:xfrm>
            <a:off x="7872857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95" name="Shape 593"/>
          <p:cNvSpPr/>
          <p:nvPr/>
        </p:nvSpPr>
        <p:spPr>
          <a:xfrm>
            <a:off x="8071739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96" name="Shape 594"/>
          <p:cNvSpPr/>
          <p:nvPr/>
        </p:nvSpPr>
        <p:spPr>
          <a:xfrm>
            <a:off x="8270621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>
            <a:off x="8469503" y="2893822"/>
            <a:ext cx="19888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98" name="Text 596"/>
          <p:cNvSpPr/>
          <p:nvPr/>
        </p:nvSpPr>
        <p:spPr>
          <a:xfrm>
            <a:off x="99060" y="3152394"/>
            <a:ext cx="8709660" cy="192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75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Fig 5.1 - Gantt Chart.</a:t>
            </a:r>
            <a:endParaRPr lang="en-US" sz="750" dirty="0"/>
          </a:p>
        </p:txBody>
      </p:sp>
      <p:sp>
        <p:nvSpPr>
          <p:cNvPr id="599" name="Shape 597"/>
          <p:cNvSpPr/>
          <p:nvPr/>
        </p:nvSpPr>
        <p:spPr>
          <a:xfrm>
            <a:off x="2708910" y="3449574"/>
            <a:ext cx="1577340" cy="178308"/>
          </a:xfrm>
          <a:prstGeom prst="rect">
            <a:avLst/>
          </a:prstGeom>
          <a:solidFill>
            <a:srgbClr val="FF0000"/>
          </a:solidFill>
          <a:ln w="635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00" name="Text 598"/>
          <p:cNvSpPr/>
          <p:nvPr/>
        </p:nvSpPr>
        <p:spPr>
          <a:xfrm>
            <a:off x="2664333" y="3460209"/>
            <a:ext cx="1577340" cy="1783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675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PROPOSED ACTIVITY</a:t>
            </a:r>
            <a:endParaRPr lang="en-US" sz="675" dirty="0"/>
          </a:p>
        </p:txBody>
      </p:sp>
      <p:sp>
        <p:nvSpPr>
          <p:cNvPr id="601" name="Shape 599"/>
          <p:cNvSpPr/>
          <p:nvPr/>
        </p:nvSpPr>
        <p:spPr>
          <a:xfrm>
            <a:off x="4491990" y="3449574"/>
            <a:ext cx="1577340" cy="178308"/>
          </a:xfrm>
          <a:prstGeom prst="rect">
            <a:avLst/>
          </a:prstGeom>
          <a:solidFill>
            <a:srgbClr val="00B05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602" name="Text 600"/>
          <p:cNvSpPr/>
          <p:nvPr/>
        </p:nvSpPr>
        <p:spPr>
          <a:xfrm>
            <a:off x="4491990" y="3449574"/>
            <a:ext cx="1577340" cy="1783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675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ACHIEVED ACTIVITY</a:t>
            </a:r>
            <a:endParaRPr lang="en-US" sz="6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17811"/>
            <a:ext cx="4178573" cy="465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20202"/>
                </a:solidFill>
                <a:latin typeface="PT Serif" panose="020A0603040505020204" pitchFamily="34" charset="0"/>
                <a:ea typeface="PT Serif" panose="020A0603040505020204" pitchFamily="34" charset="-122"/>
                <a:cs typeface="PT Serif" panose="020A0603040505020204" pitchFamily="34" charset="-120"/>
              </a:rPr>
              <a:t>References</a:t>
            </a:r>
            <a:endParaRPr lang="en-US" sz="2900" b="1" dirty="0"/>
          </a:p>
        </p:txBody>
      </p:sp>
      <p:sp>
        <p:nvSpPr>
          <p:cNvPr id="3" name="Text 1"/>
          <p:cNvSpPr/>
          <p:nvPr/>
        </p:nvSpPr>
        <p:spPr>
          <a:xfrm>
            <a:off x="495935" y="2166620"/>
            <a:ext cx="8194675" cy="2527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42900" indent="-342900" algn="just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alt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N. Venu, “IoT Surveillance Robot Using ESP-32 Wi-Fi CAM &amp; Arduino,” IJFANS International Journal of Food and Nutritional Sciences, vol. 11, no. 5, pp. 198–205, Jul. 2022.</a:t>
            </a:r>
            <a:endParaRPr lang="en-US" alt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alt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 Mothe, S. T. Reddy, G. Sunil, and C. Sidhardha, “An IoT Based Obstacle Avoidance Robot Using Ultrasonic Sensor and Arduino,” IOP Conference Series: Materials Science and Engineering, vol. 981, p. 042002, 2020, doi: 10.1088/1757-899X/981/4/042002.</a:t>
            </a:r>
            <a:endParaRPr lang="en-US" alt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alt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Kumar, A. Gaur, P. Upadhyay, A. Shukla, and D. Tiwari, “ESP32-CAM Based Robot for Restricted and Hazardous Area Surveillance,” Tuijin Jishu/Journal of Propulsion Technology, vol. 47, no. 1, pp. 398–410, 2026.</a:t>
            </a:r>
            <a:endParaRPr lang="en-US" alt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alt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O. Agbeyangi, O. Alashiri, J. O. Odiete, and O. A. Adenekan, “An Autonomous Obstacle Avoidance Robot Using Ultrasonic Sensor,” The Journal of Computer Science and Its Applications, vol. 27, no. 1, pp. 182–194, Jun. 2020, doi: 10.4314/jcsia.v27i1.15.</a:t>
            </a:r>
            <a:endParaRPr lang="en-US" alt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978729" y="4817314"/>
            <a:ext cx="1103243" cy="27432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6778</Words>
  <Application>WPS Presentation</Application>
  <PresentationFormat>On-screen Show (16:9)</PresentationFormat>
  <Paragraphs>287</Paragraphs>
  <Slides>12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SimSun</vt:lpstr>
      <vt:lpstr>Wingdings</vt:lpstr>
      <vt:lpstr>Times New Roman</vt:lpstr>
      <vt:lpstr>PT Serif</vt:lpstr>
      <vt:lpstr>Times New Roman</vt:lpstr>
      <vt:lpstr>PT Serif</vt:lpstr>
      <vt:lpstr>PT Serif</vt:lpstr>
      <vt:lpstr>Times New Roman</vt:lpstr>
      <vt:lpstr>Times New Roman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Kunal Dahal</cp:lastModifiedBy>
  <cp:revision>24</cp:revision>
  <dcterms:created xsi:type="dcterms:W3CDTF">2026-06-08T07:33:00Z</dcterms:created>
  <dcterms:modified xsi:type="dcterms:W3CDTF">2026-06-08T19:34:24Z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2928B8A7D087466B859443136F0CBE59_13</vt:lpwstr>
  </property>
  <property fmtid="{D5CDD505-2E9C-101B-9397-08002B2CF9AE}" pid="3" name="KSOProductBuildVer">
    <vt:lpwstr>2057-12.2.0.23202</vt:lpwstr>
  </property>
</Properties>
</file>