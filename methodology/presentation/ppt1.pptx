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411480"/>
          </a:xfrm>
          <a:prstGeom prst="rect">
            <a:avLst/>
          </a:prstGeom>
          <a:noFill/>
          <a:ln/>
        </p:spPr>
        <p:txBody>
          <a:bodyPr wrap="square" lIns="0" tIns="0" rIns="0" bIns="0" rtlCol="0" anchor="ctr"/>
          <a:lstStyle/>
          <a:p>
            <a:pPr algn="ctr" indent="0" marL="0">
              <a:buNone/>
            </a:pPr>
            <a:r>
              <a:rPr lang="en-US" sz="2200" dirty="0">
                <a:solidFill>
                  <a:srgbClr val="020202"/>
                </a:solidFill>
                <a:latin typeface="Times New Roman" pitchFamily="34" charset="0"/>
                <a:ea typeface="Times New Roman" pitchFamily="34" charset="-122"/>
                <a:cs typeface="Times New Roman" pitchFamily="34" charset="-120"/>
              </a:rPr>
              <a:t>Sikkim Institute of Science and Technology</a:t>
            </a:r>
            <a:endParaRPr lang="en-US" sz="2200" dirty="0"/>
          </a:p>
        </p:txBody>
      </p:sp>
      <p:sp>
        <p:nvSpPr>
          <p:cNvPr id="3" name="Text 1"/>
          <p:cNvSpPr txBox="1"/>
          <p:nvPr/>
        </p:nvSpPr>
        <p:spPr>
          <a:xfrm>
            <a:off x="548640" y="749808"/>
            <a:ext cx="8046720" cy="365760"/>
          </a:xfrm>
          <a:prstGeom prst="rect">
            <a:avLst/>
          </a:prstGeom>
          <a:noFill/>
          <a:ln/>
        </p:spPr>
        <p:txBody>
          <a:bodyPr wrap="square" lIns="0" tIns="0" rIns="0" bIns="0" rtlCol="0" anchor="ctr"/>
          <a:lstStyle/>
          <a:p>
            <a:pPr algn="ctr" indent="0" marL="0">
              <a:buNone/>
            </a:pPr>
            <a:r>
              <a:rPr lang="en-US" sz="2000" dirty="0">
                <a:solidFill>
                  <a:srgbClr val="020202"/>
                </a:solidFill>
                <a:latin typeface="Times New Roman" pitchFamily="34" charset="0"/>
                <a:ea typeface="Times New Roman" pitchFamily="34" charset="-122"/>
                <a:cs typeface="Times New Roman" pitchFamily="34" charset="-120"/>
              </a:rPr>
              <a:t>Methodology Presentation</a:t>
            </a:r>
            <a:endParaRPr lang="en-US" sz="2000" dirty="0"/>
          </a:p>
        </p:txBody>
      </p:sp>
      <p:sp>
        <p:nvSpPr>
          <p:cNvPr id="4" name="Shape 2"/>
          <p:cNvSpPr/>
          <p:nvPr/>
        </p:nvSpPr>
        <p:spPr>
          <a:xfrm>
            <a:off x="594360" y="1207008"/>
            <a:ext cx="7955280" cy="10973"/>
          </a:xfrm>
          <a:prstGeom prst="rect">
            <a:avLst/>
          </a:prstGeom>
          <a:solidFill>
            <a:srgbClr val="383838">
              <a:alpha val="50000"/>
            </a:srgbClr>
          </a:solidFill>
          <a:ln/>
        </p:spPr>
      </p:sp>
      <p:sp>
        <p:nvSpPr>
          <p:cNvPr id="5" name="Text 3"/>
          <p:cNvSpPr txBox="1"/>
          <p:nvPr/>
        </p:nvSpPr>
        <p:spPr>
          <a:xfrm>
            <a:off x="548640" y="1371600"/>
            <a:ext cx="8046720" cy="914400"/>
          </a:xfrm>
          <a:prstGeom prst="rect">
            <a:avLst/>
          </a:prstGeom>
          <a:noFill/>
          <a:ln/>
        </p:spPr>
        <p:txBody>
          <a:bodyPr wrap="square" lIns="0" tIns="0" rIns="0" bIns="0" rtlCol="0" anchor="t"/>
          <a:lstStyle/>
          <a:p>
            <a:pPr algn="ctr" indent="0" marL="0">
              <a:buNone/>
            </a:pPr>
            <a:r>
              <a:rPr lang="en-US" sz="1800" b="1" dirty="0">
                <a:solidFill>
                  <a:srgbClr val="020202"/>
                </a:solidFill>
                <a:latin typeface="Times New Roman" pitchFamily="34" charset="0"/>
                <a:ea typeface="Times New Roman" pitchFamily="34" charset="-122"/>
                <a:cs typeface="Times New Roman" pitchFamily="34" charset="-120"/>
              </a:rPr>
              <a:t>Topic: </a:t>
            </a:r>
            <a:pPr algn="ctr" indent="0" marL="0">
              <a:buNone/>
            </a:pPr>
            <a:r>
              <a:rPr lang="en-US" sz="1800" dirty="0">
                <a:solidFill>
                  <a:srgbClr val="020202"/>
                </a:solidFill>
                <a:latin typeface="Times New Roman" pitchFamily="34" charset="0"/>
                <a:ea typeface="Times New Roman" pitchFamily="34" charset="-122"/>
                <a:cs typeface="Times New Roman" pitchFamily="34" charset="-120"/>
              </a:rPr>
              <a:t>Gap-Aware Retrieval (GAR): Adaptive Retrieval Using Information Gaps and Existing Evidence</a:t>
            </a:r>
            <a:endParaRPr lang="en-US" sz="1800" dirty="0"/>
          </a:p>
        </p:txBody>
      </p:sp>
      <p:sp>
        <p:nvSpPr>
          <p:cNvPr id="6" name="Text 4"/>
          <p:cNvSpPr txBox="1"/>
          <p:nvPr/>
        </p:nvSpPr>
        <p:spPr>
          <a:xfrm>
            <a:off x="5120640" y="2514600"/>
            <a:ext cx="2194560" cy="274320"/>
          </a:xfrm>
          <a:prstGeom prst="rect">
            <a:avLst/>
          </a:prstGeom>
          <a:noFill/>
          <a:ln/>
        </p:spPr>
        <p:txBody>
          <a:bodyPr wrap="square" lIns="0" tIns="0" rIns="0" bIns="0" rtlCol="0" anchor="ctr"/>
          <a:lstStyle/>
          <a:p>
            <a:pPr indent="0" marL="0">
              <a:buNone/>
            </a:pPr>
            <a:r>
              <a:rPr lang="en-US" sz="1400" b="1" dirty="0">
                <a:solidFill>
                  <a:srgbClr val="020202"/>
                </a:solidFill>
                <a:latin typeface="Times New Roman" pitchFamily="34" charset="0"/>
                <a:ea typeface="Times New Roman" pitchFamily="34" charset="-122"/>
                <a:cs typeface="Times New Roman" pitchFamily="34" charset="-120"/>
              </a:rPr>
              <a:t>Project Guide:</a:t>
            </a:r>
            <a:endParaRPr lang="en-US" sz="1400" dirty="0"/>
          </a:p>
        </p:txBody>
      </p:sp>
      <p:sp>
        <p:nvSpPr>
          <p:cNvPr id="7" name="Text 5"/>
          <p:cNvSpPr txBox="1"/>
          <p:nvPr/>
        </p:nvSpPr>
        <p:spPr>
          <a:xfrm>
            <a:off x="5120640" y="2788920"/>
            <a:ext cx="2834640" cy="914400"/>
          </a:xfrm>
          <a:prstGeom prst="rect">
            <a:avLst/>
          </a:prstGeom>
          <a:noFill/>
          <a:ln/>
        </p:spPr>
        <p:txBody>
          <a:bodyPr wrap="square" lIns="0" tIns="0" rIns="0" bIns="0" rtlCol="0" anchor="ctr"/>
          <a:lstStyle/>
          <a:p>
            <a:pPr indent="0" marL="0">
              <a:lnSpc>
                <a:spcPct val="115000"/>
              </a:lnSpc>
              <a:buNone/>
            </a:pPr>
            <a:r>
              <a:rPr lang="en-US" sz="1300" dirty="0">
                <a:solidFill>
                  <a:srgbClr val="020202"/>
                </a:solidFill>
                <a:latin typeface="Times New Roman" pitchFamily="34" charset="0"/>
                <a:ea typeface="Times New Roman" pitchFamily="34" charset="-122"/>
                <a:cs typeface="Times New Roman" pitchFamily="34" charset="-120"/>
              </a:rPr>
              <a:t>Mr. Anmol Pandey</a:t>
            </a:r>
            <a:endParaRPr lang="en-US" sz="1300" dirty="0"/>
          </a:p>
          <a:p>
            <a:pPr indent="0" marL="0">
              <a:lnSpc>
                <a:spcPct val="115000"/>
              </a:lnSpc>
              <a:buNone/>
            </a:pPr>
            <a:r>
              <a:rPr lang="en-US" sz="1300" dirty="0">
                <a:solidFill>
                  <a:srgbClr val="020202"/>
                </a:solidFill>
                <a:latin typeface="Times New Roman" pitchFamily="34" charset="0"/>
                <a:ea typeface="Times New Roman" pitchFamily="34" charset="-122"/>
                <a:cs typeface="Times New Roman" pitchFamily="34" charset="-120"/>
              </a:rPr>
              <a:t>Assistant Professor</a:t>
            </a:r>
            <a:endParaRPr lang="en-US" sz="1300" dirty="0"/>
          </a:p>
          <a:p>
            <a:pPr indent="0" marL="0">
              <a:lnSpc>
                <a:spcPct val="115000"/>
              </a:lnSpc>
              <a:buNone/>
            </a:pPr>
            <a:r>
              <a:rPr lang="en-US" sz="1300" dirty="0">
                <a:solidFill>
                  <a:srgbClr val="020202"/>
                </a:solidFill>
                <a:latin typeface="Times New Roman" pitchFamily="34" charset="0"/>
                <a:ea typeface="Times New Roman" pitchFamily="34" charset="-122"/>
                <a:cs typeface="Times New Roman" pitchFamily="34" charset="-120"/>
              </a:rPr>
              <a:t>(Computer Engineering)</a:t>
            </a:r>
            <a:endParaRPr lang="en-US" sz="1300" dirty="0"/>
          </a:p>
        </p:txBody>
      </p:sp>
      <p:sp>
        <p:nvSpPr>
          <p:cNvPr id="8" name="Text 6"/>
          <p:cNvSpPr txBox="1"/>
          <p:nvPr/>
        </p:nvSpPr>
        <p:spPr>
          <a:xfrm>
            <a:off x="822960" y="2514600"/>
            <a:ext cx="2194560" cy="274320"/>
          </a:xfrm>
          <a:prstGeom prst="rect">
            <a:avLst/>
          </a:prstGeom>
          <a:noFill/>
          <a:ln/>
        </p:spPr>
        <p:txBody>
          <a:bodyPr wrap="square" lIns="0" tIns="0" rIns="0" bIns="0" rtlCol="0" anchor="ctr"/>
          <a:lstStyle/>
          <a:p>
            <a:pPr indent="0" marL="0">
              <a:buNone/>
            </a:pPr>
            <a:r>
              <a:rPr lang="en-US" sz="1400" b="1" dirty="0">
                <a:solidFill>
                  <a:srgbClr val="020202"/>
                </a:solidFill>
                <a:latin typeface="Times New Roman" pitchFamily="34" charset="0"/>
                <a:ea typeface="Times New Roman" pitchFamily="34" charset="-122"/>
                <a:cs typeface="Times New Roman" pitchFamily="34" charset="-120"/>
              </a:rPr>
              <a:t>Presented By:</a:t>
            </a:r>
            <a:endParaRPr lang="en-US" sz="1400" dirty="0"/>
          </a:p>
        </p:txBody>
      </p:sp>
      <p:sp>
        <p:nvSpPr>
          <p:cNvPr id="9" name="Text 7"/>
          <p:cNvSpPr txBox="1"/>
          <p:nvPr/>
        </p:nvSpPr>
        <p:spPr>
          <a:xfrm>
            <a:off x="822960" y="2788920"/>
            <a:ext cx="3291840" cy="10058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Kunal Dahal (22CSEC17)</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Aniket Manger (22CSEC23)</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Suman Chettri (22CSEC44)</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800" b="1" dirty="0">
                <a:solidFill>
                  <a:srgbClr val="020202"/>
                </a:solidFill>
                <a:latin typeface="Times New Roman" pitchFamily="34" charset="0"/>
                <a:ea typeface="Times New Roman" pitchFamily="34" charset="-122"/>
                <a:cs typeface="Times New Roman" pitchFamily="34" charset="-120"/>
              </a:rPr>
              <a:t>Abstract</a:t>
            </a:r>
            <a:endParaRPr lang="en-US" sz="2800" dirty="0"/>
          </a:p>
        </p:txBody>
      </p:sp>
      <p:sp>
        <p:nvSpPr>
          <p:cNvPr id="3" name="Text 1"/>
          <p:cNvSpPr txBox="1"/>
          <p:nvPr/>
        </p:nvSpPr>
        <p:spPr>
          <a:xfrm>
            <a:off x="411480" y="1143000"/>
            <a:ext cx="8321040" cy="3611880"/>
          </a:xfrm>
          <a:prstGeom prst="rect">
            <a:avLst/>
          </a:prstGeom>
          <a:noFill/>
          <a:ln/>
        </p:spPr>
        <p:txBody>
          <a:bodyPr wrap="square" lIns="0" tIns="0" rIns="0" bIns="0" rtlCol="0" anchor="t"/>
          <a:lstStyle/>
          <a:p>
            <a:pPr algn="just" indent="0" marL="0">
              <a:lnSpc>
                <a:spcPct val="125000"/>
              </a:lnSpc>
              <a:buNone/>
            </a:pPr>
            <a:r>
              <a:rPr lang="en-US" sz="1350" b="1" dirty="0">
                <a:solidFill>
                  <a:srgbClr val="020202"/>
                </a:solidFill>
                <a:latin typeface="Times New Roman" pitchFamily="34" charset="0"/>
                <a:ea typeface="Times New Roman" pitchFamily="34" charset="-122"/>
                <a:cs typeface="Times New Roman" pitchFamily="34" charset="-120"/>
              </a:rPr>
              <a:t>Gap-Aware Retrieval (GAR) </a:t>
            </a:r>
            <a:pPr algn="just" indent="0" marL="0">
              <a:lnSpc>
                <a:spcPct val="125000"/>
              </a:lnSpc>
              <a:buNone/>
            </a:pPr>
            <a:r>
              <a:rPr lang="en-US" sz="1350" dirty="0">
                <a:solidFill>
                  <a:srgbClr val="020202"/>
                </a:solidFill>
                <a:latin typeface="Times New Roman" pitchFamily="34" charset="0"/>
                <a:ea typeface="Times New Roman" pitchFamily="34" charset="-122"/>
                <a:cs typeface="Times New Roman" pitchFamily="34" charset="-120"/>
              </a:rPr>
              <a:t>is proposed as a retrieval method for iterative, multi-hop information-seeking tasks, developed within the Missing Information Guided Retrieve-Extraction-Solving (MIGRES) framework. Conventional retrievers often return documents relevant to the original question but not to the information that is still missing. MIGRES supplies the current question, previously collected evidence, and the information gap at each retrieval step; GAR uses these signals to rank candidate documents by gap-aware relevance, coverage of missing information, and novelty with respect to existing evidence. The methodology uses a fixed sentence-embedding model, approximate nearest-neighbor (ANN) candidate generation, and a weighted GAR scoring function, evaluated against BM25, DPR, Contriever, ColBERTv2, and SPLADE. The study examines retrieval effectiveness, downstream QA quality, component ablation, efficiency, and reproducibility, to determine whether modeling the information gap and existing evidence improves iterative retrieval.</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800" b="1" dirty="0">
                <a:solidFill>
                  <a:srgbClr val="020202"/>
                </a:solidFill>
                <a:latin typeface="Times New Roman" pitchFamily="34" charset="0"/>
                <a:ea typeface="Times New Roman" pitchFamily="34" charset="-122"/>
                <a:cs typeface="Times New Roman" pitchFamily="34" charset="-120"/>
              </a:rPr>
              <a:t>Introduction</a:t>
            </a:r>
            <a:endParaRPr lang="en-US" sz="2800" dirty="0"/>
          </a:p>
        </p:txBody>
      </p:sp>
      <p:sp>
        <p:nvSpPr>
          <p:cNvPr id="3" name="Text 1"/>
          <p:cNvSpPr txBox="1"/>
          <p:nvPr/>
        </p:nvSpPr>
        <p:spPr>
          <a:xfrm>
            <a:off x="411480" y="1143000"/>
            <a:ext cx="8321040" cy="3566160"/>
          </a:xfrm>
          <a:prstGeom prst="rect">
            <a:avLst/>
          </a:prstGeom>
          <a:noFill/>
          <a:ln/>
        </p:spPr>
        <p:txBody>
          <a:bodyPr wrap="square" lIns="0" tIns="0" rIns="0" bIns="0" rtlCol="0" anchor="t"/>
          <a:lstStyle/>
          <a:p>
            <a:pPr algn="just" indent="0" marL="0">
              <a:lnSpc>
                <a:spcPct val="125000"/>
              </a:lnSpc>
              <a:buNone/>
            </a:pPr>
            <a:r>
              <a:rPr lang="en-US" sz="1400" dirty="0">
                <a:solidFill>
                  <a:srgbClr val="020202"/>
                </a:solidFill>
                <a:latin typeface="Times New Roman" pitchFamily="34" charset="0"/>
                <a:ea typeface="Times New Roman" pitchFamily="34" charset="-122"/>
                <a:cs typeface="Times New Roman" pitchFamily="34" charset="-120"/>
              </a:rPr>
              <a:t>Retrieval-Augmented Generation (RAG) combines information retrieval with large language models to improve answer generation using external documents, so retrieval quality strongly affects the final answer. Traditional retrieval mainly selects documents by relevance to the query, which is limiting for complex, multi-hop questions where information must be combined across documents and some information gets collected while other information remains missing. The MIGRES framework addresses this by using missing information to guide iterative retrieval: after processing evidence, it identifies what is still missing and uses it to direct the next retrieval step. Related work such as Relevant Information Gain and InfoGain-RAG considers whether retrieved information is genuinely new, while other studies weigh source reliability or use efficient late-interaction retrieval. Building on these ideas, this project investigates Gap-Aware Retrieval (GAR) — whether the current information gap and previously collected evidence can jointly guide iterative retrieval.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600" b="1" dirty="0">
                <a:solidFill>
                  <a:srgbClr val="020202"/>
                </a:solidFill>
                <a:latin typeface="Times New Roman" pitchFamily="34" charset="0"/>
                <a:ea typeface="Times New Roman" pitchFamily="34" charset="-122"/>
                <a:cs typeface="Times New Roman" pitchFamily="34" charset="-120"/>
              </a:rPr>
              <a:t>Literature Survey</a:t>
            </a:r>
            <a:endParaRPr lang="en-US" sz="2600" dirty="0"/>
          </a:p>
        </p:txBody>
      </p:sp>
      <p:sp>
        <p:nvSpPr>
          <p:cNvPr id="3" name="Text 1"/>
          <p:cNvSpPr txBox="1"/>
          <p:nvPr/>
        </p:nvSpPr>
        <p:spPr>
          <a:xfrm>
            <a:off x="411480" y="914400"/>
            <a:ext cx="8321040" cy="274320"/>
          </a:xfrm>
          <a:prstGeom prst="rect">
            <a:avLst/>
          </a:prstGeom>
          <a:noFill/>
          <a:ln/>
        </p:spPr>
        <p:txBody>
          <a:bodyPr wrap="square" lIns="0" tIns="0" rIns="0" bIns="0" rtlCol="0" anchor="ctr"/>
          <a:lstStyle/>
          <a:p>
            <a:pPr indent="0" marL="0">
              <a:buNone/>
            </a:pPr>
            <a:r>
              <a:rPr lang="en-US" sz="1300" b="1" i="1" dirty="0">
                <a:solidFill>
                  <a:srgbClr val="020202"/>
                </a:solidFill>
                <a:latin typeface="Times New Roman" pitchFamily="34" charset="0"/>
                <a:ea typeface="Times New Roman" pitchFamily="34" charset="-122"/>
                <a:cs typeface="Times New Roman" pitchFamily="34" charset="-120"/>
              </a:rPr>
              <a:t>Literature Survey 1</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8321040" cy="914400"/>
        </p:xfrm>
        <a:graphic>
          <a:graphicData uri="http://schemas.openxmlformats.org/drawingml/2006/table">
            <a:tbl>
              <a:tblPr/>
              <a:tblGrid>
                <a:gridCol w="1600200"/>
                <a:gridCol w="6720840"/>
              </a:tblGrid>
              <a:tr h="384048">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Name of paper</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LLMs Know What They Need: Leveraging a Missing Information Guided Framework to Empower Retrieval-Augmented Generation</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Authors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Keheng Wang, Feiyu Duan, Peiguang Li, Sirui Wang, Xunliang Cai</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r h="45720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Publication Details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Proceedings of the 31st International Conference on Computational Linguistics (COLING), 2025, pp. 2379–2400</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7724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Research Findings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Demonstrates that LLMs can extract useful information and identify missing information; introduces MIGRES, which generates a targeted query from the missing information for the next retrieval step, with sentence-level reranking and filtering.</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r h="77724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Research Gap</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Performance still depends on generated-query quality and retriever output; hard-negative passages can score highly without being useful, making evidence selection difficult.</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8580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Relevance with Our Work</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MIGRES provides the base iterative RAG framework used to investigate whether the retrieval stage can be improved with gap-aware ranking.</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600" b="1" dirty="0">
                <a:solidFill>
                  <a:srgbClr val="020202"/>
                </a:solidFill>
                <a:latin typeface="Times New Roman" pitchFamily="34" charset="0"/>
                <a:ea typeface="Times New Roman" pitchFamily="34" charset="-122"/>
                <a:cs typeface="Times New Roman" pitchFamily="34" charset="-120"/>
              </a:rPr>
              <a:t>Literature Survey</a:t>
            </a:r>
            <a:endParaRPr lang="en-US" sz="2600" dirty="0"/>
          </a:p>
        </p:txBody>
      </p:sp>
      <p:sp>
        <p:nvSpPr>
          <p:cNvPr id="3" name="Text 1"/>
          <p:cNvSpPr txBox="1"/>
          <p:nvPr/>
        </p:nvSpPr>
        <p:spPr>
          <a:xfrm>
            <a:off x="411480" y="914400"/>
            <a:ext cx="8321040" cy="274320"/>
          </a:xfrm>
          <a:prstGeom prst="rect">
            <a:avLst/>
          </a:prstGeom>
          <a:noFill/>
          <a:ln/>
        </p:spPr>
        <p:txBody>
          <a:bodyPr wrap="square" lIns="0" tIns="0" rIns="0" bIns="0" rtlCol="0" anchor="ctr"/>
          <a:lstStyle/>
          <a:p>
            <a:pPr indent="0" marL="0">
              <a:buNone/>
            </a:pPr>
            <a:r>
              <a:rPr lang="en-US" sz="1300" b="1" i="1" dirty="0">
                <a:solidFill>
                  <a:srgbClr val="020202"/>
                </a:solidFill>
                <a:latin typeface="Times New Roman" pitchFamily="34" charset="0"/>
                <a:ea typeface="Times New Roman" pitchFamily="34" charset="-122"/>
                <a:cs typeface="Times New Roman" pitchFamily="34" charset="-120"/>
              </a:rPr>
              <a:t>Literature Survey 2</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8321040" cy="914400"/>
        </p:xfrm>
        <a:graphic>
          <a:graphicData uri="http://schemas.openxmlformats.org/drawingml/2006/table">
            <a:tbl>
              <a:tblPr/>
              <a:tblGrid>
                <a:gridCol w="1600200"/>
                <a:gridCol w="6720840"/>
              </a:tblGrid>
              <a:tr h="384048">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Name of paper</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Better RAG using Relevant Information Gain</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Authors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Marc Pickett, Jeremy Hartman, Ayan Kumar Bhowmick, Raquib-ul Alam, Aditya Vempaty</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r h="45720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Publication Details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arXiv preprint, 2024</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7724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Research Findings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Introduces a Relevant Information Gain metric measuring the total query-relevant information in a passage set, and the Dartboard retrieval method that selects diverse passages without a separate diversity term; outperforms existing methods on the RGB benchmark.</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r h="77724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Research Gap</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Defined for selecting a single passage set; does not address how the objective should change as new evidence is collected across multiple retrieval steps.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8580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Relevance with Our Work</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Provides a basis for weighing usefulness and redundancy of retrieved information when selecting documents.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600" b="1" dirty="0">
                <a:solidFill>
                  <a:srgbClr val="020202"/>
                </a:solidFill>
                <a:latin typeface="Times New Roman" pitchFamily="34" charset="0"/>
                <a:ea typeface="Times New Roman" pitchFamily="34" charset="-122"/>
                <a:cs typeface="Times New Roman" pitchFamily="34" charset="-120"/>
              </a:rPr>
              <a:t>Literature Survey</a:t>
            </a:r>
            <a:endParaRPr lang="en-US" sz="2600" dirty="0"/>
          </a:p>
        </p:txBody>
      </p:sp>
      <p:sp>
        <p:nvSpPr>
          <p:cNvPr id="3" name="Text 1"/>
          <p:cNvSpPr txBox="1"/>
          <p:nvPr/>
        </p:nvSpPr>
        <p:spPr>
          <a:xfrm>
            <a:off x="411480" y="914400"/>
            <a:ext cx="8321040" cy="274320"/>
          </a:xfrm>
          <a:prstGeom prst="rect">
            <a:avLst/>
          </a:prstGeom>
          <a:noFill/>
          <a:ln/>
        </p:spPr>
        <p:txBody>
          <a:bodyPr wrap="square" lIns="0" tIns="0" rIns="0" bIns="0" rtlCol="0" anchor="ctr"/>
          <a:lstStyle/>
          <a:p>
            <a:pPr indent="0" marL="0">
              <a:buNone/>
            </a:pPr>
            <a:r>
              <a:rPr lang="en-US" sz="1300" b="1" i="1" dirty="0">
                <a:solidFill>
                  <a:srgbClr val="020202"/>
                </a:solidFill>
                <a:latin typeface="Times New Roman" pitchFamily="34" charset="0"/>
                <a:ea typeface="Times New Roman" pitchFamily="34" charset="-122"/>
                <a:cs typeface="Times New Roman" pitchFamily="34" charset="-120"/>
              </a:rPr>
              <a:t>Literature Survey 3</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8321040" cy="914400"/>
        </p:xfrm>
        <a:graphic>
          <a:graphicData uri="http://schemas.openxmlformats.org/drawingml/2006/table">
            <a:tbl>
              <a:tblPr/>
              <a:tblGrid>
                <a:gridCol w="1600200"/>
                <a:gridCol w="6720840"/>
              </a:tblGrid>
              <a:tr h="384048">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Name of paper</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InfoGain-RAG: Boosting Retrieval-Augmented Generation through Document Information Gain-based Reranking and Filtering</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Authors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Zihan Wang, Zihan Liang, Zhou Shao, Yufei Ma, Huangyu Dai, Ben Chen, et al.</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r h="45720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Publication Details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Proceedings of EMNLP 2025, pp. 7190–7204</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7724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Research Findings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Introduces Document Information Gain (DIG), the change in LLM generation confidence when a document is added; trains a multi-task reranker for filtering and ranking, improving answer generation across benchmarks.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r h="77724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Research Gap</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Evaluated only on text-based retrieval; DIG cannot verify factual correctness; reranker size limited by compute.</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8580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Relevance with Our Work</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Supports using a document's contribution to answer generation when designing document selection.</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600" b="1" dirty="0">
                <a:solidFill>
                  <a:srgbClr val="020202"/>
                </a:solidFill>
                <a:latin typeface="Times New Roman" pitchFamily="34" charset="0"/>
                <a:ea typeface="Times New Roman" pitchFamily="34" charset="-122"/>
                <a:cs typeface="Times New Roman" pitchFamily="34" charset="-120"/>
              </a:rPr>
              <a:t>Literature Survey</a:t>
            </a:r>
            <a:endParaRPr lang="en-US" sz="2600" dirty="0"/>
          </a:p>
        </p:txBody>
      </p:sp>
      <p:sp>
        <p:nvSpPr>
          <p:cNvPr id="3" name="Text 1"/>
          <p:cNvSpPr txBox="1"/>
          <p:nvPr/>
        </p:nvSpPr>
        <p:spPr>
          <a:xfrm>
            <a:off x="411480" y="914400"/>
            <a:ext cx="8321040" cy="274320"/>
          </a:xfrm>
          <a:prstGeom prst="rect">
            <a:avLst/>
          </a:prstGeom>
          <a:noFill/>
          <a:ln/>
        </p:spPr>
        <p:txBody>
          <a:bodyPr wrap="square" lIns="0" tIns="0" rIns="0" bIns="0" rtlCol="0" anchor="ctr"/>
          <a:lstStyle/>
          <a:p>
            <a:pPr indent="0" marL="0">
              <a:buNone/>
            </a:pPr>
            <a:r>
              <a:rPr lang="en-US" sz="1300" b="1" i="1" dirty="0">
                <a:solidFill>
                  <a:srgbClr val="020202"/>
                </a:solidFill>
                <a:latin typeface="Times New Roman" pitchFamily="34" charset="0"/>
                <a:ea typeface="Times New Roman" pitchFamily="34" charset="-122"/>
                <a:cs typeface="Times New Roman" pitchFamily="34" charset="-120"/>
              </a:rPr>
              <a:t>Literature Survey 4</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8321040" cy="914400"/>
        </p:xfrm>
        <a:graphic>
          <a:graphicData uri="http://schemas.openxmlformats.org/drawingml/2006/table">
            <a:tbl>
              <a:tblPr/>
              <a:tblGrid>
                <a:gridCol w="1600200"/>
                <a:gridCol w="6720840"/>
              </a:tblGrid>
              <a:tr h="384048">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Name of paper</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Retrieval-Augmented Generation with Estimation of Source Reliability</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Authors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Jeongyeon Hwang, Junyoung Park, Hyejin Park, Dongwoo Kim, Sangdon Park, Jungseul Ok</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r h="45720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Publication Details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Proceedings of EMNLP 2025, pp. 34279–34303</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7724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Research Findings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Investigates heterogeneous source reliability in multi-source RAG; proposes RA-RAG, which estimates reliability by cross-checking sources and aggregates via Weighted Majority Voting, improving performance as sources grow.</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r h="77724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Research Gap</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Reliability estimation is harder with few sources; evaluation mainly on news claims; reliability is estimated offline and needs periodic updates.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8580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Relevance with Our Work</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Shows that factors beyond query-document relevance can guide document selection, supporting additional evidence-aware factors.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600" b="1" dirty="0">
                <a:solidFill>
                  <a:srgbClr val="020202"/>
                </a:solidFill>
                <a:latin typeface="Times New Roman" pitchFamily="34" charset="0"/>
                <a:ea typeface="Times New Roman" pitchFamily="34" charset="-122"/>
                <a:cs typeface="Times New Roman" pitchFamily="34" charset="-120"/>
              </a:rPr>
              <a:t>Literature Survey</a:t>
            </a:r>
            <a:endParaRPr lang="en-US" sz="2600" dirty="0"/>
          </a:p>
        </p:txBody>
      </p:sp>
      <p:sp>
        <p:nvSpPr>
          <p:cNvPr id="3" name="Text 1"/>
          <p:cNvSpPr txBox="1"/>
          <p:nvPr/>
        </p:nvSpPr>
        <p:spPr>
          <a:xfrm>
            <a:off x="411480" y="914400"/>
            <a:ext cx="8321040" cy="274320"/>
          </a:xfrm>
          <a:prstGeom prst="rect">
            <a:avLst/>
          </a:prstGeom>
          <a:noFill/>
          <a:ln/>
        </p:spPr>
        <p:txBody>
          <a:bodyPr wrap="square" lIns="0" tIns="0" rIns="0" bIns="0" rtlCol="0" anchor="ctr"/>
          <a:lstStyle/>
          <a:p>
            <a:pPr indent="0" marL="0">
              <a:buNone/>
            </a:pPr>
            <a:r>
              <a:rPr lang="en-US" sz="1300" b="1" i="1" dirty="0">
                <a:solidFill>
                  <a:srgbClr val="020202"/>
                </a:solidFill>
                <a:latin typeface="Times New Roman" pitchFamily="34" charset="0"/>
                <a:ea typeface="Times New Roman" pitchFamily="34" charset="-122"/>
                <a:cs typeface="Times New Roman" pitchFamily="34" charset="-120"/>
              </a:rPr>
              <a:t>Literature Survey 5</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8321040" cy="914400"/>
        </p:xfrm>
        <a:graphic>
          <a:graphicData uri="http://schemas.openxmlformats.org/drawingml/2006/table">
            <a:tbl>
              <a:tblPr/>
              <a:tblGrid>
                <a:gridCol w="1600200"/>
                <a:gridCol w="6720840"/>
              </a:tblGrid>
              <a:tr h="384048">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Name of paper</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ColBERTv2: Effective and Efficient Retrieval via Lightweight Late Interaction</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Authors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Keshav Santhanam, Omar Khattab, Jon Saad-Falcon, Christopher Potts, Matei Zaharia</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r h="45720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Publication Details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Proceedings of NAACL 2022, pp. 3715–3734</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7724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Research Findings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Uses late-interaction, token-level query-document matching with residual compression to cut storage, and denoised supervision to reduce false negatives during training; achieves strong effectiveness with much less storage than ColBERT.</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r h="77724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Research Gap</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Still requires storing token-level document representations; not designed for iterative retrieval with changing information needs.</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85800">
                <a:tc>
                  <a:txBody>
                    <a:bodyPr/>
                    <a:lstStyle/>
                    <a:p>
                      <a:pPr algn="l" indent="0" marL="0">
                        <a:buNone/>
                      </a:pPr>
                      <a:r>
                        <a:rPr lang="en-US" sz="950" b="1" dirty="0">
                          <a:solidFill>
                            <a:srgbClr val="FFFFFF"/>
                          </a:solidFill>
                          <a:latin typeface="Times New Roman" pitchFamily="34" charset="0"/>
                          <a:ea typeface="Times New Roman" pitchFamily="34" charset="-122"/>
                          <a:cs typeface="Times New Roman" pitchFamily="34" charset="-120"/>
                        </a:rPr>
                        <a:t>Relevance with Our Work</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950" dirty="0">
                          <a:solidFill>
                            <a:srgbClr val="020202"/>
                          </a:solidFill>
                          <a:latin typeface="Times New Roman" pitchFamily="34" charset="0"/>
                          <a:ea typeface="Times New Roman" pitchFamily="34" charset="-122"/>
                          <a:cs typeface="Times New Roman" pitchFamily="34" charset="-120"/>
                        </a:rPr>
                        <a:t>Serves as an established neural retrieval baseline for evaluating GAR.</a:t>
                      </a:r>
                      <a:endParaRPr lang="en-US" sz="950" dirty="0">
                        <a:latin typeface="Times New Roman" charset="0"/>
                        <a:ea typeface="Times New Roman" charset="0"/>
                        <a:cs typeface="Times New Roman" charset="0"/>
                      </a:endParaRPr>
                    </a:p>
                  </a:txBody>
                  <a:tcPr marL="50800" marR="50800" marT="38100" marB="381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800" b="1" dirty="0">
                <a:solidFill>
                  <a:srgbClr val="020202"/>
                </a:solidFill>
                <a:latin typeface="Times New Roman" pitchFamily="34" charset="0"/>
                <a:ea typeface="Times New Roman" pitchFamily="34" charset="-122"/>
                <a:cs typeface="Times New Roman" pitchFamily="34" charset="-120"/>
              </a:rPr>
              <a:t>Problem Definition</a:t>
            </a:r>
            <a:endParaRPr lang="en-US" sz="2800" dirty="0"/>
          </a:p>
        </p:txBody>
      </p:sp>
      <p:sp>
        <p:nvSpPr>
          <p:cNvPr id="3" name="Text 1"/>
          <p:cNvSpPr txBox="1"/>
          <p:nvPr/>
        </p:nvSpPr>
        <p:spPr>
          <a:xfrm>
            <a:off x="411480" y="1188720"/>
            <a:ext cx="8321040" cy="35204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In iterative RAG, conventional retrieval may repeatedly retrieve documents relevant to the original query but already covered, causing redundant retrieval and less useful later steps.</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The information required to answer a multi-hop question changes as evidence is collected, but existing retrieval methods may not sufficiently use the current missing information when selecting documents.</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Previously retrieved evidence can contain information the system already has; a retrieval mechanism is needed that considers collected evidence alongside the remaining information requirement.</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The effectiveness of using the current information gap and collected evidence for iterative retrieval needs to be experimentally investigated against existing retrieval approaches.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800" b="1" dirty="0">
                <a:solidFill>
                  <a:srgbClr val="020202"/>
                </a:solidFill>
                <a:latin typeface="Times New Roman" pitchFamily="34" charset="0"/>
                <a:ea typeface="Times New Roman" pitchFamily="34" charset="-122"/>
                <a:cs typeface="Times New Roman" pitchFamily="34" charset="-120"/>
              </a:rPr>
              <a:t>Objectives</a:t>
            </a:r>
            <a:endParaRPr lang="en-US" sz="2800" dirty="0"/>
          </a:p>
        </p:txBody>
      </p:sp>
      <p:sp>
        <p:nvSpPr>
          <p:cNvPr id="3" name="Text 1"/>
          <p:cNvSpPr txBox="1"/>
          <p:nvPr/>
        </p:nvSpPr>
        <p:spPr>
          <a:xfrm>
            <a:off x="411480" y="1188720"/>
            <a:ext cx="8321040" cy="35204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To investigate methods for reducing redundant retrieval of information that has already been obtained.</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To study and incorporate the current missing information as a factor in selecting documents during iterative retrieval.</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To investigate how previously collected evidence can be considered when selecting documents for subsequent retrieval steps.</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To evaluate the effectiveness of the developed retrieval approach against existing retrieval methods using suitable retrieval and question-answering measures.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400" b="1" dirty="0">
                <a:solidFill>
                  <a:srgbClr val="020202"/>
                </a:solidFill>
                <a:latin typeface="Times New Roman" pitchFamily="34" charset="0"/>
                <a:ea typeface="Times New Roman" pitchFamily="34" charset="-122"/>
                <a:cs typeface="Times New Roman" pitchFamily="34" charset="-120"/>
              </a:rPr>
              <a:t>Solution Strategy: GAR Overview</a:t>
            </a:r>
            <a:endParaRPr lang="en-US" sz="2400" dirty="0"/>
          </a:p>
        </p:txBody>
      </p:sp>
      <p:sp>
        <p:nvSpPr>
          <p:cNvPr id="3" name="Text 1"/>
          <p:cNvSpPr txBox="1"/>
          <p:nvPr/>
        </p:nvSpPr>
        <p:spPr>
          <a:xfrm>
            <a:off x="411480" y="1143000"/>
            <a:ext cx="8321040" cy="1188720"/>
          </a:xfrm>
          <a:prstGeom prst="rect">
            <a:avLst/>
          </a:prstGeom>
          <a:noFill/>
          <a:ln/>
        </p:spPr>
        <p:txBody>
          <a:bodyPr wrap="square" lIns="0" tIns="0" rIns="0" bIns="0" rtlCol="0" anchor="t"/>
          <a:lstStyle/>
          <a:p>
            <a:pPr algn="just" indent="0" marL="0">
              <a:lnSpc>
                <a:spcPct val="125000"/>
              </a:lnSpc>
              <a:buNone/>
            </a:pPr>
            <a:r>
              <a:rPr lang="en-US" sz="1350" dirty="0">
                <a:solidFill>
                  <a:srgbClr val="020202"/>
                </a:solidFill>
                <a:latin typeface="Times New Roman" pitchFamily="34" charset="0"/>
                <a:ea typeface="Times New Roman" pitchFamily="34" charset="-122"/>
                <a:cs typeface="Times New Roman" pitchFamily="34" charset="-120"/>
              </a:rPr>
              <a:t>Gap-Aware Retrieval (GAR) is an iterative retrieval approach that, at each step, considers the original question, the information still missing, and the evidence already collected — moving beyond simple question relevance toward documents that provide useful, new information.</a:t>
            </a:r>
            <a:endParaRPr lang="en-US" sz="1350" dirty="0"/>
          </a:p>
        </p:txBody>
      </p:sp>
      <p:sp>
        <p:nvSpPr>
          <p:cNvPr id="4" name="Text 2"/>
          <p:cNvSpPr txBox="1"/>
          <p:nvPr/>
        </p:nvSpPr>
        <p:spPr>
          <a:xfrm>
            <a:off x="411480" y="2331720"/>
            <a:ext cx="8321040" cy="274320"/>
          </a:xfrm>
          <a:prstGeom prst="rect">
            <a:avLst/>
          </a:prstGeom>
          <a:noFill/>
          <a:ln/>
        </p:spPr>
        <p:txBody>
          <a:bodyPr wrap="square" lIns="0" tIns="0" rIns="0" bIns="0" rtlCol="0" anchor="ctr"/>
          <a:lstStyle/>
          <a:p>
            <a:pPr indent="0" marL="0">
              <a:buNone/>
            </a:pPr>
            <a:r>
              <a:rPr lang="en-US" sz="1400" b="1" dirty="0">
                <a:solidFill>
                  <a:srgbClr val="020202"/>
                </a:solidFill>
                <a:latin typeface="Times New Roman" pitchFamily="34" charset="0"/>
                <a:ea typeface="Times New Roman" pitchFamily="34" charset="-122"/>
                <a:cs typeface="Times New Roman" pitchFamily="34" charset="-120"/>
              </a:rPr>
              <a:t>The solution strategy follows four steps:</a:t>
            </a:r>
            <a:endParaRPr lang="en-US" sz="1400" dirty="0"/>
          </a:p>
        </p:txBody>
      </p:sp>
      <p:sp>
        <p:nvSpPr>
          <p:cNvPr id="5" name="Text 3"/>
          <p:cNvSpPr txBox="1"/>
          <p:nvPr/>
        </p:nvSpPr>
        <p:spPr>
          <a:xfrm>
            <a:off x="411480" y="2651760"/>
            <a:ext cx="8321040" cy="210312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Reduce redundant retrieval — prioritize documents with new information over repeated content.</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Focus on missing information — use the current information gap to prioritize documents that fill it.</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Consider existing evidence — use collected evidence when ranking documents for the next step.</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Evaluate retrieval performance — compare against established retrieval methods under consistent settings.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200" b="1" dirty="0">
                <a:solidFill>
                  <a:srgbClr val="020202"/>
                </a:solidFill>
                <a:latin typeface="Times New Roman" pitchFamily="34" charset="0"/>
                <a:ea typeface="Times New Roman" pitchFamily="34" charset="-122"/>
                <a:cs typeface="Times New Roman" pitchFamily="34" charset="-120"/>
              </a:rPr>
              <a:t>Architecture: GAR within MIGRES</a:t>
            </a:r>
            <a:endParaRPr lang="en-US" sz="2200" dirty="0"/>
          </a:p>
        </p:txBody>
      </p:sp>
      <p:sp>
        <p:nvSpPr>
          <p:cNvPr id="3" name="Text 1"/>
          <p:cNvSpPr txBox="1"/>
          <p:nvPr/>
        </p:nvSpPr>
        <p:spPr>
          <a:xfrm>
            <a:off x="411480" y="1051560"/>
            <a:ext cx="2514600" cy="457200"/>
          </a:xfrm>
          <a:prstGeom prst="rect">
            <a:avLst/>
          </a:prstGeom>
          <a:solidFill>
            <a:srgbClr val="FFFFFF"/>
          </a:solidFill>
          <a:ln w="15875">
            <a:solidFill>
              <a:srgbClr val="4472C4"/>
            </a:solidFill>
          </a:ln>
        </p:spPr>
        <p:txBody>
          <a:bodyPr wrap="square" lIns="12700" tIns="12700" rIns="12700" bIns="12700" rtlCol="0" anchor="ctr"/>
          <a:lstStyle/>
          <a:p>
            <a:pPr algn="ctr" indent="0" marL="0">
              <a:buNone/>
            </a:pPr>
            <a:r>
              <a:rPr lang="en-US" sz="1050" dirty="0">
                <a:solidFill>
                  <a:srgbClr val="020202"/>
                </a:solidFill>
                <a:latin typeface="Times New Roman" pitchFamily="34" charset="0"/>
                <a:ea typeface="Times New Roman" pitchFamily="34" charset="-122"/>
                <a:cs typeface="Times New Roman" pitchFamily="34" charset="-120"/>
              </a:rPr>
              <a:t>Question q  +  Gap Gt</a:t>
            </a:r>
            <a:endParaRPr lang="en-US" sz="1050" dirty="0"/>
          </a:p>
        </p:txBody>
      </p:sp>
      <p:sp>
        <p:nvSpPr>
          <p:cNvPr id="4" name="Text 2"/>
          <p:cNvSpPr txBox="1"/>
          <p:nvPr/>
        </p:nvSpPr>
        <p:spPr>
          <a:xfrm>
            <a:off x="3063240" y="1051560"/>
            <a:ext cx="2514600" cy="457200"/>
          </a:xfrm>
          <a:prstGeom prst="rect">
            <a:avLst/>
          </a:prstGeom>
          <a:solidFill>
            <a:srgbClr val="FFFFFF"/>
          </a:solidFill>
          <a:ln w="15875">
            <a:solidFill>
              <a:srgbClr val="4472C4"/>
            </a:solidFill>
          </a:ln>
        </p:spPr>
        <p:txBody>
          <a:bodyPr wrap="square" lIns="12700" tIns="12700" rIns="12700" bIns="12700" rtlCol="0" anchor="ctr"/>
          <a:lstStyle/>
          <a:p>
            <a:pPr algn="ctr" indent="0" marL="0">
              <a:buNone/>
            </a:pPr>
            <a:r>
              <a:rPr lang="en-US" sz="1050" dirty="0">
                <a:solidFill>
                  <a:srgbClr val="020202"/>
                </a:solidFill>
                <a:latin typeface="Times New Roman" pitchFamily="34" charset="0"/>
                <a:ea typeface="Times New Roman" pitchFamily="34" charset="-122"/>
                <a:cs typeface="Times New Roman" pitchFamily="34" charset="-120"/>
              </a:rPr>
              <a:t>Evidence Et</a:t>
            </a:r>
            <a:endParaRPr lang="en-US" sz="1050" dirty="0"/>
          </a:p>
        </p:txBody>
      </p:sp>
      <p:sp>
        <p:nvSpPr>
          <p:cNvPr id="5" name="Text 3"/>
          <p:cNvSpPr txBox="1"/>
          <p:nvPr/>
        </p:nvSpPr>
        <p:spPr>
          <a:xfrm>
            <a:off x="5715000" y="1051560"/>
            <a:ext cx="3017520" cy="457200"/>
          </a:xfrm>
          <a:prstGeom prst="rect">
            <a:avLst/>
          </a:prstGeom>
          <a:solidFill>
            <a:srgbClr val="FFFFFF"/>
          </a:solidFill>
          <a:ln w="15875">
            <a:solidFill>
              <a:srgbClr val="4472C4"/>
            </a:solidFill>
          </a:ln>
        </p:spPr>
        <p:txBody>
          <a:bodyPr wrap="square" lIns="12700" tIns="12700" rIns="12700" bIns="12700" rtlCol="0" anchor="ctr"/>
          <a:lstStyle/>
          <a:p>
            <a:pPr algn="ctr" indent="0" marL="0">
              <a:buNone/>
            </a:pPr>
            <a:r>
              <a:rPr lang="en-US" sz="1050" dirty="0">
                <a:solidFill>
                  <a:srgbClr val="020202"/>
                </a:solidFill>
                <a:latin typeface="Times New Roman" pitchFamily="34" charset="0"/>
                <a:ea typeface="Times New Roman" pitchFamily="34" charset="-122"/>
                <a:cs typeface="Times New Roman" pitchFamily="34" charset="-120"/>
              </a:rPr>
              <a:t>Document Corpus D</a:t>
            </a:r>
            <a:endParaRPr lang="en-US" sz="1050" dirty="0"/>
          </a:p>
        </p:txBody>
      </p:sp>
      <p:sp>
        <p:nvSpPr>
          <p:cNvPr id="6" name="Shape 4"/>
          <p:cNvSpPr/>
          <p:nvPr/>
        </p:nvSpPr>
        <p:spPr>
          <a:xfrm>
            <a:off x="4572000" y="1508760"/>
            <a:ext cx="0" cy="201168"/>
          </a:xfrm>
          <a:prstGeom prst="line">
            <a:avLst/>
          </a:prstGeom>
          <a:noFill/>
          <a:ln w="15875">
            <a:solidFill>
              <a:srgbClr val="595959"/>
            </a:solidFill>
            <a:prstDash val="solid"/>
            <a:tailEnd type="triangle"/>
          </a:ln>
        </p:spPr>
      </p:sp>
      <p:sp>
        <p:nvSpPr>
          <p:cNvPr id="7" name="Text 5"/>
          <p:cNvSpPr txBox="1"/>
          <p:nvPr/>
        </p:nvSpPr>
        <p:spPr>
          <a:xfrm>
            <a:off x="411480" y="1709928"/>
            <a:ext cx="8321040" cy="438912"/>
          </a:xfrm>
          <a:prstGeom prst="rect">
            <a:avLst/>
          </a:prstGeom>
          <a:solidFill>
            <a:srgbClr val="FFFFFF"/>
          </a:solidFill>
          <a:ln w="15875">
            <a:solidFill>
              <a:srgbClr val="4472C4"/>
            </a:solidFill>
          </a:ln>
        </p:spPr>
        <p:txBody>
          <a:bodyPr wrap="square" lIns="12700" tIns="12700" rIns="12700" bIns="12700" rtlCol="0" anchor="ctr"/>
          <a:lstStyle/>
          <a:p>
            <a:pPr algn="ctr" indent="0" marL="0">
              <a:buNone/>
            </a:pPr>
            <a:r>
              <a:rPr lang="en-US" sz="1050" dirty="0">
                <a:solidFill>
                  <a:srgbClr val="020202"/>
                </a:solidFill>
                <a:latin typeface="Times New Roman" pitchFamily="34" charset="0"/>
                <a:ea typeface="Times New Roman" pitchFamily="34" charset="-122"/>
                <a:cs typeface="Times New Roman" pitchFamily="34" charset="-120"/>
              </a:rPr>
              <a:t>Sentence-Transformer Embedding  →  ANN Candidate Search (K0)</a:t>
            </a:r>
            <a:endParaRPr lang="en-US" sz="1050" dirty="0"/>
          </a:p>
        </p:txBody>
      </p:sp>
      <p:sp>
        <p:nvSpPr>
          <p:cNvPr id="8" name="Shape 6"/>
          <p:cNvSpPr/>
          <p:nvPr/>
        </p:nvSpPr>
        <p:spPr>
          <a:xfrm>
            <a:off x="4572000" y="2148840"/>
            <a:ext cx="0" cy="201168"/>
          </a:xfrm>
          <a:prstGeom prst="line">
            <a:avLst/>
          </a:prstGeom>
          <a:noFill/>
          <a:ln w="15875">
            <a:solidFill>
              <a:srgbClr val="595959"/>
            </a:solidFill>
            <a:prstDash val="solid"/>
            <a:tailEnd type="triangle"/>
          </a:ln>
        </p:spPr>
      </p:sp>
      <p:sp>
        <p:nvSpPr>
          <p:cNvPr id="9" name="Text 7"/>
          <p:cNvSpPr txBox="1"/>
          <p:nvPr/>
        </p:nvSpPr>
        <p:spPr>
          <a:xfrm>
            <a:off x="411480" y="2350008"/>
            <a:ext cx="8321040" cy="384048"/>
          </a:xfrm>
          <a:prstGeom prst="rect">
            <a:avLst/>
          </a:prstGeom>
          <a:solidFill>
            <a:srgbClr val="FFFFFF"/>
          </a:solidFill>
          <a:ln w="15875">
            <a:solidFill>
              <a:srgbClr val="4472C4"/>
            </a:solidFill>
          </a:ln>
        </p:spPr>
        <p:txBody>
          <a:bodyPr wrap="square" lIns="12700" tIns="12700" rIns="12700" bIns="12700" rtlCol="0" anchor="ctr"/>
          <a:lstStyle/>
          <a:p>
            <a:pPr algn="ctr" indent="0" marL="0">
              <a:buNone/>
            </a:pPr>
            <a:r>
              <a:rPr lang="en-US" sz="1050" dirty="0">
                <a:solidFill>
                  <a:srgbClr val="020202"/>
                </a:solidFill>
                <a:latin typeface="Times New Roman" pitchFamily="34" charset="0"/>
                <a:ea typeface="Times New Roman" pitchFamily="34" charset="-122"/>
                <a:cs typeface="Times New Roman" pitchFamily="34" charset="-120"/>
              </a:rPr>
              <a:t>Candidate Set Ct</a:t>
            </a:r>
            <a:endParaRPr lang="en-US" sz="1050" dirty="0"/>
          </a:p>
        </p:txBody>
      </p:sp>
      <p:sp>
        <p:nvSpPr>
          <p:cNvPr id="10" name="Shape 8"/>
          <p:cNvSpPr/>
          <p:nvPr/>
        </p:nvSpPr>
        <p:spPr>
          <a:xfrm>
            <a:off x="4572000" y="2734056"/>
            <a:ext cx="0" cy="201168"/>
          </a:xfrm>
          <a:prstGeom prst="line">
            <a:avLst/>
          </a:prstGeom>
          <a:noFill/>
          <a:ln w="15875">
            <a:solidFill>
              <a:srgbClr val="595959"/>
            </a:solidFill>
            <a:prstDash val="solid"/>
            <a:tailEnd type="triangle"/>
          </a:ln>
        </p:spPr>
      </p:sp>
      <p:sp>
        <p:nvSpPr>
          <p:cNvPr id="11" name="Text 9"/>
          <p:cNvSpPr txBox="1"/>
          <p:nvPr/>
        </p:nvSpPr>
        <p:spPr>
          <a:xfrm>
            <a:off x="411480" y="2935224"/>
            <a:ext cx="2682240" cy="438912"/>
          </a:xfrm>
          <a:prstGeom prst="rect">
            <a:avLst/>
          </a:prstGeom>
          <a:solidFill>
            <a:srgbClr val="FFFFFF"/>
          </a:solidFill>
          <a:ln w="15875">
            <a:solidFill>
              <a:srgbClr val="4472C4"/>
            </a:solidFill>
          </a:ln>
        </p:spPr>
        <p:txBody>
          <a:bodyPr wrap="square" lIns="12700" tIns="12700" rIns="12700" bIns="12700" rtlCol="0" anchor="ctr"/>
          <a:lstStyle/>
          <a:p>
            <a:pPr algn="ctr" indent="0" marL="0">
              <a:buNone/>
            </a:pPr>
            <a:r>
              <a:rPr lang="en-US" sz="1050" dirty="0">
                <a:solidFill>
                  <a:srgbClr val="020202"/>
                </a:solidFill>
                <a:latin typeface="Times New Roman" pitchFamily="34" charset="0"/>
                <a:ea typeface="Times New Roman" pitchFamily="34" charset="-122"/>
                <a:cs typeface="Times New Roman" pitchFamily="34" charset="-120"/>
              </a:rPr>
              <a:t>Relevance R</a:t>
            </a:r>
            <a:endParaRPr lang="en-US" sz="1050" dirty="0"/>
          </a:p>
        </p:txBody>
      </p:sp>
      <p:sp>
        <p:nvSpPr>
          <p:cNvPr id="12" name="Text 10"/>
          <p:cNvSpPr txBox="1"/>
          <p:nvPr/>
        </p:nvSpPr>
        <p:spPr>
          <a:xfrm>
            <a:off x="3230880" y="2935224"/>
            <a:ext cx="2682240" cy="438912"/>
          </a:xfrm>
          <a:prstGeom prst="rect">
            <a:avLst/>
          </a:prstGeom>
          <a:solidFill>
            <a:srgbClr val="FFFFFF"/>
          </a:solidFill>
          <a:ln w="15875">
            <a:solidFill>
              <a:srgbClr val="4472C4"/>
            </a:solidFill>
          </a:ln>
        </p:spPr>
        <p:txBody>
          <a:bodyPr wrap="square" lIns="12700" tIns="12700" rIns="12700" bIns="12700" rtlCol="0" anchor="ctr"/>
          <a:lstStyle/>
          <a:p>
            <a:pPr algn="ctr" indent="0" marL="0">
              <a:buNone/>
            </a:pPr>
            <a:r>
              <a:rPr lang="en-US" sz="1050" dirty="0">
                <a:solidFill>
                  <a:srgbClr val="020202"/>
                </a:solidFill>
                <a:latin typeface="Times New Roman" pitchFamily="34" charset="0"/>
                <a:ea typeface="Times New Roman" pitchFamily="34" charset="-122"/>
                <a:cs typeface="Times New Roman" pitchFamily="34" charset="-120"/>
              </a:rPr>
              <a:t>Coverage C</a:t>
            </a:r>
            <a:endParaRPr lang="en-US" sz="1050" dirty="0"/>
          </a:p>
        </p:txBody>
      </p:sp>
      <p:sp>
        <p:nvSpPr>
          <p:cNvPr id="13" name="Text 11"/>
          <p:cNvSpPr txBox="1"/>
          <p:nvPr/>
        </p:nvSpPr>
        <p:spPr>
          <a:xfrm>
            <a:off x="6050280" y="2935224"/>
            <a:ext cx="2682240" cy="438912"/>
          </a:xfrm>
          <a:prstGeom prst="rect">
            <a:avLst/>
          </a:prstGeom>
          <a:solidFill>
            <a:srgbClr val="FFFFFF"/>
          </a:solidFill>
          <a:ln w="15875">
            <a:solidFill>
              <a:srgbClr val="4472C4"/>
            </a:solidFill>
          </a:ln>
        </p:spPr>
        <p:txBody>
          <a:bodyPr wrap="square" lIns="12700" tIns="12700" rIns="12700" bIns="12700" rtlCol="0" anchor="ctr"/>
          <a:lstStyle/>
          <a:p>
            <a:pPr algn="ctr" indent="0" marL="0">
              <a:buNone/>
            </a:pPr>
            <a:r>
              <a:rPr lang="en-US" sz="1050" dirty="0">
                <a:solidFill>
                  <a:srgbClr val="020202"/>
                </a:solidFill>
                <a:latin typeface="Times New Roman" pitchFamily="34" charset="0"/>
                <a:ea typeface="Times New Roman" pitchFamily="34" charset="-122"/>
                <a:cs typeface="Times New Roman" pitchFamily="34" charset="-120"/>
              </a:rPr>
              <a:t>Novelty N</a:t>
            </a:r>
            <a:endParaRPr lang="en-US" sz="1050" dirty="0"/>
          </a:p>
        </p:txBody>
      </p:sp>
      <p:sp>
        <p:nvSpPr>
          <p:cNvPr id="14" name="Shape 12"/>
          <p:cNvSpPr/>
          <p:nvPr/>
        </p:nvSpPr>
        <p:spPr>
          <a:xfrm>
            <a:off x="4572000" y="3374136"/>
            <a:ext cx="0" cy="201168"/>
          </a:xfrm>
          <a:prstGeom prst="line">
            <a:avLst/>
          </a:prstGeom>
          <a:noFill/>
          <a:ln w="15875">
            <a:solidFill>
              <a:srgbClr val="595959"/>
            </a:solidFill>
            <a:prstDash val="solid"/>
            <a:tailEnd type="triangle"/>
          </a:ln>
        </p:spPr>
      </p:sp>
      <p:sp>
        <p:nvSpPr>
          <p:cNvPr id="15" name="Text 13"/>
          <p:cNvSpPr txBox="1"/>
          <p:nvPr/>
        </p:nvSpPr>
        <p:spPr>
          <a:xfrm>
            <a:off x="411480" y="3575304"/>
            <a:ext cx="8321040" cy="384048"/>
          </a:xfrm>
          <a:prstGeom prst="rect">
            <a:avLst/>
          </a:prstGeom>
          <a:solidFill>
            <a:srgbClr val="D9E2F3"/>
          </a:solidFill>
          <a:ln w="15875">
            <a:solidFill>
              <a:srgbClr val="4472C4"/>
            </a:solidFill>
          </a:ln>
        </p:spPr>
        <p:txBody>
          <a:bodyPr wrap="square" lIns="12700" tIns="12700" rIns="12700" bIns="12700" rtlCol="0" anchor="ctr"/>
          <a:lstStyle/>
          <a:p>
            <a:pPr algn="ctr" indent="0" marL="0">
              <a:buNone/>
            </a:pPr>
            <a:r>
              <a:rPr lang="en-US" sz="1050" b="1" dirty="0">
                <a:solidFill>
                  <a:srgbClr val="020202"/>
                </a:solidFill>
                <a:latin typeface="Times New Roman" pitchFamily="34" charset="0"/>
                <a:ea typeface="Times New Roman" pitchFamily="34" charset="-122"/>
                <a:cs typeface="Times New Roman" pitchFamily="34" charset="-120"/>
              </a:rPr>
              <a:t>GAR Score  =  αR + βC + γN</a:t>
            </a:r>
            <a:endParaRPr lang="en-US" sz="1050" dirty="0"/>
          </a:p>
        </p:txBody>
      </p:sp>
      <p:sp>
        <p:nvSpPr>
          <p:cNvPr id="16" name="Shape 14"/>
          <p:cNvSpPr/>
          <p:nvPr/>
        </p:nvSpPr>
        <p:spPr>
          <a:xfrm>
            <a:off x="4572000" y="3959352"/>
            <a:ext cx="0" cy="201168"/>
          </a:xfrm>
          <a:prstGeom prst="line">
            <a:avLst/>
          </a:prstGeom>
          <a:noFill/>
          <a:ln w="15875">
            <a:solidFill>
              <a:srgbClr val="595959"/>
            </a:solidFill>
            <a:prstDash val="solid"/>
            <a:tailEnd type="triangle"/>
          </a:ln>
        </p:spPr>
      </p:sp>
      <p:sp>
        <p:nvSpPr>
          <p:cNvPr id="17" name="Text 15"/>
          <p:cNvSpPr txBox="1"/>
          <p:nvPr/>
        </p:nvSpPr>
        <p:spPr>
          <a:xfrm>
            <a:off x="411480" y="4160520"/>
            <a:ext cx="8321040" cy="457200"/>
          </a:xfrm>
          <a:prstGeom prst="rect">
            <a:avLst/>
          </a:prstGeom>
          <a:solidFill>
            <a:srgbClr val="FFFFFF"/>
          </a:solidFill>
          <a:ln w="15875">
            <a:solidFill>
              <a:srgbClr val="4472C4"/>
            </a:solidFill>
          </a:ln>
        </p:spPr>
        <p:txBody>
          <a:bodyPr wrap="square" lIns="12700" tIns="12700" rIns="12700" bIns="12700" rtlCol="0" anchor="ctr"/>
          <a:lstStyle/>
          <a:p>
            <a:pPr algn="ctr" indent="0" marL="0">
              <a:buNone/>
            </a:pPr>
            <a:r>
              <a:rPr lang="en-US" sz="1050" dirty="0">
                <a:solidFill>
                  <a:srgbClr val="020202"/>
                </a:solidFill>
                <a:latin typeface="Times New Roman" pitchFamily="34" charset="0"/>
                <a:ea typeface="Times New Roman" pitchFamily="34" charset="-122"/>
                <a:cs typeface="Times New Roman" pitchFamily="34" charset="-120"/>
              </a:rPr>
              <a:t>Top-k Documents  →  MIGRES Filtering / Extraction  →  Updated Et+1, Gt+1</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200" b="1" dirty="0">
                <a:solidFill>
                  <a:srgbClr val="020202"/>
                </a:solidFill>
                <a:latin typeface="Times New Roman" pitchFamily="34" charset="0"/>
                <a:ea typeface="Times New Roman" pitchFamily="34" charset="-122"/>
                <a:cs typeface="Times New Roman" pitchFamily="34" charset="-120"/>
              </a:rPr>
              <a:t>Operational Flow of GAR-Based Retrieval</a:t>
            </a:r>
            <a:endParaRPr lang="en-US" sz="2200" dirty="0"/>
          </a:p>
        </p:txBody>
      </p:sp>
      <p:sp>
        <p:nvSpPr>
          <p:cNvPr id="3" name="Text 1"/>
          <p:cNvSpPr txBox="1"/>
          <p:nvPr/>
        </p:nvSpPr>
        <p:spPr>
          <a:xfrm>
            <a:off x="411480" y="1005840"/>
            <a:ext cx="8321040" cy="384048"/>
          </a:xfrm>
          <a:prstGeom prst="rect">
            <a:avLst/>
          </a:prstGeom>
          <a:solidFill>
            <a:srgbClr val="FFFFFF"/>
          </a:solidFill>
          <a:ln w="15875">
            <a:solidFill>
              <a:srgbClr val="4472C4"/>
            </a:solidFill>
          </a:ln>
        </p:spPr>
        <p:txBody>
          <a:bodyPr wrap="square" lIns="12700" tIns="127000" rIns="0" bIns="12700" rtlCol="0" anchor="ct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1. Benchmark Question q</a:t>
            </a:r>
            <a:endParaRPr lang="en-US" sz="1050" dirty="0"/>
          </a:p>
        </p:txBody>
      </p:sp>
      <p:sp>
        <p:nvSpPr>
          <p:cNvPr id="4" name="Shape 2"/>
          <p:cNvSpPr/>
          <p:nvPr/>
        </p:nvSpPr>
        <p:spPr>
          <a:xfrm>
            <a:off x="4572000" y="1389888"/>
            <a:ext cx="0" cy="73152"/>
          </a:xfrm>
          <a:prstGeom prst="line">
            <a:avLst/>
          </a:prstGeom>
          <a:noFill/>
          <a:ln w="15875">
            <a:solidFill>
              <a:srgbClr val="595959"/>
            </a:solidFill>
            <a:prstDash val="solid"/>
            <a:tailEnd type="triangle"/>
          </a:ln>
        </p:spPr>
      </p:sp>
      <p:sp>
        <p:nvSpPr>
          <p:cNvPr id="5" name="Text 3"/>
          <p:cNvSpPr txBox="1"/>
          <p:nvPr/>
        </p:nvSpPr>
        <p:spPr>
          <a:xfrm>
            <a:off x="411480" y="1472184"/>
            <a:ext cx="8321040" cy="384048"/>
          </a:xfrm>
          <a:prstGeom prst="rect">
            <a:avLst/>
          </a:prstGeom>
          <a:solidFill>
            <a:srgbClr val="FFFFFF"/>
          </a:solidFill>
          <a:ln w="15875">
            <a:solidFill>
              <a:srgbClr val="4472C4"/>
            </a:solidFill>
          </a:ln>
        </p:spPr>
        <p:txBody>
          <a:bodyPr wrap="square" lIns="12700" tIns="127000" rIns="0" bIns="12700" rtlCol="0" anchor="ct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2. MIGRES: Initialize / Update Evidence Et and Gap Gt</a:t>
            </a:r>
            <a:endParaRPr lang="en-US" sz="1050" dirty="0"/>
          </a:p>
        </p:txBody>
      </p:sp>
      <p:sp>
        <p:nvSpPr>
          <p:cNvPr id="6" name="Shape 4"/>
          <p:cNvSpPr/>
          <p:nvPr/>
        </p:nvSpPr>
        <p:spPr>
          <a:xfrm>
            <a:off x="4572000" y="1856232"/>
            <a:ext cx="0" cy="73152"/>
          </a:xfrm>
          <a:prstGeom prst="line">
            <a:avLst/>
          </a:prstGeom>
          <a:noFill/>
          <a:ln w="15875">
            <a:solidFill>
              <a:srgbClr val="595959"/>
            </a:solidFill>
            <a:prstDash val="solid"/>
            <a:tailEnd type="triangle"/>
          </a:ln>
        </p:spPr>
      </p:sp>
      <p:sp>
        <p:nvSpPr>
          <p:cNvPr id="7" name="Text 5"/>
          <p:cNvSpPr txBox="1"/>
          <p:nvPr/>
        </p:nvSpPr>
        <p:spPr>
          <a:xfrm>
            <a:off x="411480" y="1938528"/>
            <a:ext cx="8321040" cy="384048"/>
          </a:xfrm>
          <a:prstGeom prst="rect">
            <a:avLst/>
          </a:prstGeom>
          <a:solidFill>
            <a:srgbClr val="FFFFFF"/>
          </a:solidFill>
          <a:ln w="15875">
            <a:solidFill>
              <a:srgbClr val="4472C4"/>
            </a:solidFill>
          </a:ln>
        </p:spPr>
        <p:txBody>
          <a:bodyPr wrap="square" lIns="12700" tIns="127000" rIns="0" bIns="12700" rtlCol="0" anchor="ct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3. Represent q, Gt, Et and Corpus D</a:t>
            </a:r>
            <a:endParaRPr lang="en-US" sz="1050" dirty="0"/>
          </a:p>
        </p:txBody>
      </p:sp>
      <p:sp>
        <p:nvSpPr>
          <p:cNvPr id="8" name="Shape 6"/>
          <p:cNvSpPr/>
          <p:nvPr/>
        </p:nvSpPr>
        <p:spPr>
          <a:xfrm>
            <a:off x="4572000" y="2322576"/>
            <a:ext cx="0" cy="73152"/>
          </a:xfrm>
          <a:prstGeom prst="line">
            <a:avLst/>
          </a:prstGeom>
          <a:noFill/>
          <a:ln w="15875">
            <a:solidFill>
              <a:srgbClr val="595959"/>
            </a:solidFill>
            <a:prstDash val="solid"/>
            <a:tailEnd type="triangle"/>
          </a:ln>
        </p:spPr>
      </p:sp>
      <p:sp>
        <p:nvSpPr>
          <p:cNvPr id="9" name="Text 7"/>
          <p:cNvSpPr txBox="1"/>
          <p:nvPr/>
        </p:nvSpPr>
        <p:spPr>
          <a:xfrm>
            <a:off x="411480" y="2404872"/>
            <a:ext cx="8321040" cy="384048"/>
          </a:xfrm>
          <a:prstGeom prst="rect">
            <a:avLst/>
          </a:prstGeom>
          <a:solidFill>
            <a:srgbClr val="FFFFFF"/>
          </a:solidFill>
          <a:ln w="15875">
            <a:solidFill>
              <a:srgbClr val="4472C4"/>
            </a:solidFill>
          </a:ln>
        </p:spPr>
        <p:txBody>
          <a:bodyPr wrap="square" lIns="12700" tIns="127000" rIns="0" bIns="12700" rtlCol="0" anchor="ct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4. ANN Candidate Generation → Candidate Set Ct</a:t>
            </a:r>
            <a:endParaRPr lang="en-US" sz="1050" dirty="0"/>
          </a:p>
        </p:txBody>
      </p:sp>
      <p:sp>
        <p:nvSpPr>
          <p:cNvPr id="10" name="Shape 8"/>
          <p:cNvSpPr/>
          <p:nvPr/>
        </p:nvSpPr>
        <p:spPr>
          <a:xfrm>
            <a:off x="4572000" y="2788920"/>
            <a:ext cx="0" cy="73152"/>
          </a:xfrm>
          <a:prstGeom prst="line">
            <a:avLst/>
          </a:prstGeom>
          <a:noFill/>
          <a:ln w="15875">
            <a:solidFill>
              <a:srgbClr val="595959"/>
            </a:solidFill>
            <a:prstDash val="solid"/>
            <a:tailEnd type="triangle"/>
          </a:ln>
        </p:spPr>
      </p:sp>
      <p:sp>
        <p:nvSpPr>
          <p:cNvPr id="11" name="Text 9"/>
          <p:cNvSpPr txBox="1"/>
          <p:nvPr/>
        </p:nvSpPr>
        <p:spPr>
          <a:xfrm>
            <a:off x="411480" y="2871216"/>
            <a:ext cx="8321040" cy="384048"/>
          </a:xfrm>
          <a:prstGeom prst="rect">
            <a:avLst/>
          </a:prstGeom>
          <a:solidFill>
            <a:srgbClr val="FFFFFF"/>
          </a:solidFill>
          <a:ln w="15875">
            <a:solidFill>
              <a:srgbClr val="4472C4"/>
            </a:solidFill>
          </a:ln>
        </p:spPr>
        <p:txBody>
          <a:bodyPr wrap="square" lIns="12700" tIns="127000" rIns="0" bIns="12700" rtlCol="0" anchor="ct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5. Compute R, C, N → GAR Ranking → Top-k Selection</a:t>
            </a:r>
            <a:endParaRPr lang="en-US" sz="1050" dirty="0"/>
          </a:p>
        </p:txBody>
      </p:sp>
      <p:sp>
        <p:nvSpPr>
          <p:cNvPr id="12" name="Shape 10"/>
          <p:cNvSpPr/>
          <p:nvPr/>
        </p:nvSpPr>
        <p:spPr>
          <a:xfrm>
            <a:off x="4572000" y="3255264"/>
            <a:ext cx="0" cy="73152"/>
          </a:xfrm>
          <a:prstGeom prst="line">
            <a:avLst/>
          </a:prstGeom>
          <a:noFill/>
          <a:ln w="15875">
            <a:solidFill>
              <a:srgbClr val="595959"/>
            </a:solidFill>
            <a:prstDash val="solid"/>
            <a:tailEnd type="triangle"/>
          </a:ln>
        </p:spPr>
      </p:sp>
      <p:sp>
        <p:nvSpPr>
          <p:cNvPr id="13" name="Text 11"/>
          <p:cNvSpPr txBox="1"/>
          <p:nvPr/>
        </p:nvSpPr>
        <p:spPr>
          <a:xfrm>
            <a:off x="411480" y="3337560"/>
            <a:ext cx="8321040" cy="384048"/>
          </a:xfrm>
          <a:prstGeom prst="rect">
            <a:avLst/>
          </a:prstGeom>
          <a:solidFill>
            <a:srgbClr val="FFFFFF"/>
          </a:solidFill>
          <a:ln w="15875">
            <a:solidFill>
              <a:srgbClr val="4472C4"/>
            </a:solidFill>
          </a:ln>
        </p:spPr>
        <p:txBody>
          <a:bodyPr wrap="square" lIns="12700" tIns="127000" rIns="0" bIns="12700" rtlCol="0" anchor="ct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6. MIGRES Filtering &amp; Evidence Extraction → Update Et+1, Gt+1</a:t>
            </a:r>
            <a:endParaRPr lang="en-US" sz="1050" dirty="0"/>
          </a:p>
        </p:txBody>
      </p:sp>
      <p:sp>
        <p:nvSpPr>
          <p:cNvPr id="14" name="Shape 12"/>
          <p:cNvSpPr/>
          <p:nvPr/>
        </p:nvSpPr>
        <p:spPr>
          <a:xfrm>
            <a:off x="4572000" y="3721608"/>
            <a:ext cx="0" cy="73152"/>
          </a:xfrm>
          <a:prstGeom prst="line">
            <a:avLst/>
          </a:prstGeom>
          <a:noFill/>
          <a:ln w="15875">
            <a:solidFill>
              <a:srgbClr val="595959"/>
            </a:solidFill>
            <a:prstDash val="solid"/>
            <a:tailEnd type="triangle"/>
          </a:ln>
        </p:spPr>
      </p:sp>
      <p:sp>
        <p:nvSpPr>
          <p:cNvPr id="15" name="Text 13"/>
          <p:cNvSpPr txBox="1"/>
          <p:nvPr/>
        </p:nvSpPr>
        <p:spPr>
          <a:xfrm>
            <a:off x="411480" y="3803904"/>
            <a:ext cx="8321040" cy="384048"/>
          </a:xfrm>
          <a:prstGeom prst="rect">
            <a:avLst/>
          </a:prstGeom>
          <a:solidFill>
            <a:srgbClr val="FFFFFF"/>
          </a:solidFill>
          <a:ln w="15875">
            <a:solidFill>
              <a:srgbClr val="4472C4"/>
            </a:solidFill>
          </a:ln>
        </p:spPr>
        <p:txBody>
          <a:bodyPr wrap="square" lIns="12700" tIns="127000" rIns="0" bIns="12700" rtlCol="0" anchor="ct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7. Stopping condition reached?   No → return to Step 3</a:t>
            </a:r>
            <a:endParaRPr lang="en-US" sz="1050" dirty="0"/>
          </a:p>
        </p:txBody>
      </p:sp>
      <p:sp>
        <p:nvSpPr>
          <p:cNvPr id="16" name="Shape 14"/>
          <p:cNvSpPr/>
          <p:nvPr/>
        </p:nvSpPr>
        <p:spPr>
          <a:xfrm>
            <a:off x="4572000" y="4187952"/>
            <a:ext cx="0" cy="73152"/>
          </a:xfrm>
          <a:prstGeom prst="line">
            <a:avLst/>
          </a:prstGeom>
          <a:noFill/>
          <a:ln w="15875">
            <a:solidFill>
              <a:srgbClr val="595959"/>
            </a:solidFill>
            <a:prstDash val="solid"/>
            <a:tailEnd type="triangle"/>
          </a:ln>
        </p:spPr>
      </p:sp>
      <p:sp>
        <p:nvSpPr>
          <p:cNvPr id="17" name="Text 15"/>
          <p:cNvSpPr txBox="1"/>
          <p:nvPr/>
        </p:nvSpPr>
        <p:spPr>
          <a:xfrm>
            <a:off x="411480" y="4270248"/>
            <a:ext cx="8321040" cy="384048"/>
          </a:xfrm>
          <a:prstGeom prst="rect">
            <a:avLst/>
          </a:prstGeom>
          <a:solidFill>
            <a:srgbClr val="D9E2F3"/>
          </a:solidFill>
          <a:ln w="15875">
            <a:solidFill>
              <a:srgbClr val="4472C4"/>
            </a:solidFill>
          </a:ln>
        </p:spPr>
        <p:txBody>
          <a:bodyPr wrap="square" lIns="12700" tIns="127000" rIns="0" bIns="12700" rtlCol="0" anchor="ctr"/>
          <a:lstStyle/>
          <a:p>
            <a:pPr algn="ctr" indent="0" marL="0">
              <a:buNone/>
            </a:pPr>
            <a:r>
              <a:rPr lang="en-US" sz="1050" b="1" dirty="0">
                <a:solidFill>
                  <a:srgbClr val="020202"/>
                </a:solidFill>
                <a:latin typeface="Times New Roman" pitchFamily="34" charset="0"/>
                <a:ea typeface="Times New Roman" pitchFamily="34" charset="-122"/>
                <a:cs typeface="Times New Roman" pitchFamily="34" charset="-120"/>
              </a:rPr>
              <a:t>Yes → Generate Final Answer</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600" b="1" dirty="0">
                <a:solidFill>
                  <a:srgbClr val="020202"/>
                </a:solidFill>
                <a:latin typeface="Times New Roman" pitchFamily="34" charset="0"/>
                <a:ea typeface="Times New Roman" pitchFamily="34" charset="-122"/>
                <a:cs typeface="Times New Roman" pitchFamily="34" charset="-120"/>
              </a:rPr>
              <a:t>Mathematical Formulation</a:t>
            </a:r>
            <a:endParaRPr lang="en-US" sz="2600" dirty="0"/>
          </a:p>
        </p:txBody>
      </p:sp>
      <p:sp>
        <p:nvSpPr>
          <p:cNvPr id="3" name="Text 1"/>
          <p:cNvSpPr txBox="1"/>
          <p:nvPr/>
        </p:nvSpPr>
        <p:spPr>
          <a:xfrm>
            <a:off x="411480" y="1143000"/>
            <a:ext cx="8321040" cy="3657600"/>
          </a:xfrm>
          <a:prstGeom prst="rect">
            <a:avLst/>
          </a:prstGeom>
          <a:noFill/>
          <a:ln/>
        </p:spPr>
        <p:txBody>
          <a:bodyPr wrap="square" lIns="0" tIns="0" rIns="0" bIns="0" rtlCol="0" anchor="t"/>
          <a:lstStyle/>
          <a:p>
            <a:pPr algn="just" indent="0" marL="0">
              <a:lnSpc>
                <a:spcPct val="125000"/>
              </a:lnSpc>
              <a:buNone/>
            </a:pPr>
            <a:r>
              <a:rPr lang="en-US" sz="1350" b="1" dirty="0">
                <a:solidFill>
                  <a:srgbClr val="020202"/>
                </a:solidFill>
                <a:latin typeface="Times New Roman" pitchFamily="34" charset="0"/>
                <a:ea typeface="Times New Roman" pitchFamily="34" charset="-122"/>
                <a:cs typeface="Times New Roman" pitchFamily="34" charset="-120"/>
              </a:rPr>
              <a:t>Similarity: </a:t>
            </a:r>
            <a:pPr algn="just" indent="0" marL="0">
              <a:lnSpc>
                <a:spcPct val="125000"/>
              </a:lnSpc>
              <a:buNone/>
            </a:pPr>
            <a:r>
              <a:rPr lang="en-US" sz="1350" dirty="0">
                <a:solidFill>
                  <a:srgbClr val="020202"/>
                </a:solidFill>
                <a:latin typeface="Times New Roman" pitchFamily="34" charset="0"/>
                <a:ea typeface="Times New Roman" pitchFamily="34" charset="-122"/>
                <a:cs typeface="Times New Roman" pitchFamily="34" charset="-120"/>
              </a:rPr>
              <a:t>cosine similarity between embeddings ϕ(x) of two text items, normalized to [0, 1].
</a:t>
            </a:r>
            <a:pPr algn="just" indent="0" marL="0">
              <a:lnSpc>
                <a:spcPct val="125000"/>
              </a:lnSpc>
              <a:buNone/>
            </a:pPr>
            <a:r>
              <a:rPr lang="en-US" sz="1350" b="1" dirty="0">
                <a:solidFill>
                  <a:srgbClr val="020202"/>
                </a:solidFill>
                <a:latin typeface="Times New Roman" pitchFamily="34" charset="0"/>
                <a:ea typeface="Times New Roman" pitchFamily="34" charset="-122"/>
                <a:cs typeface="Times New Roman" pitchFamily="34" charset="-120"/>
              </a:rPr>
              <a:t>Gap Relevance R(d, q, Gt): </a:t>
            </a:r>
            <a:pPr algn="just" indent="0" marL="0">
              <a:lnSpc>
                <a:spcPct val="125000"/>
              </a:lnSpc>
              <a:buNone/>
            </a:pPr>
            <a:r>
              <a:rPr lang="en-US" sz="1350" dirty="0">
                <a:solidFill>
                  <a:srgbClr val="020202"/>
                </a:solidFill>
                <a:latin typeface="Times New Roman" pitchFamily="34" charset="0"/>
                <a:ea typeface="Times New Roman" pitchFamily="34" charset="-122"/>
                <a:cs typeface="Times New Roman" pitchFamily="34" charset="-120"/>
              </a:rPr>
              <a:t>λ·s(d, q) + (1 − λ)· average similarity of d to each gap requirement gi.
</a:t>
            </a:r>
            <a:pPr algn="just" indent="0" marL="0">
              <a:lnSpc>
                <a:spcPct val="125000"/>
              </a:lnSpc>
              <a:buNone/>
            </a:pPr>
            <a:r>
              <a:rPr lang="en-US" sz="1350" b="1" dirty="0">
                <a:solidFill>
                  <a:srgbClr val="020202"/>
                </a:solidFill>
                <a:latin typeface="Times New Roman" pitchFamily="34" charset="0"/>
                <a:ea typeface="Times New Roman" pitchFamily="34" charset="-122"/>
                <a:cs typeface="Times New Roman" pitchFamily="34" charset="-120"/>
              </a:rPr>
              <a:t>Gap Coverage C(d, Gt): </a:t>
            </a:r>
            <a:pPr algn="just" indent="0" marL="0">
              <a:lnSpc>
                <a:spcPct val="125000"/>
              </a:lnSpc>
              <a:buNone/>
            </a:pPr>
            <a:r>
              <a:rPr lang="en-US" sz="1350" dirty="0">
                <a:solidFill>
                  <a:srgbClr val="020202"/>
                </a:solidFill>
                <a:latin typeface="Times New Roman" pitchFamily="34" charset="0"/>
                <a:ea typeface="Times New Roman" pitchFamily="34" charset="-122"/>
                <a:cs typeface="Times New Roman" pitchFamily="34" charset="-120"/>
              </a:rPr>
              <a:t>average token-overlap between document d and each gap requirement gi.
</a:t>
            </a:r>
            <a:pPr algn="just" indent="0" marL="0">
              <a:lnSpc>
                <a:spcPct val="125000"/>
              </a:lnSpc>
              <a:buNone/>
            </a:pPr>
            <a:r>
              <a:rPr lang="en-US" sz="1350" b="1" dirty="0">
                <a:solidFill>
                  <a:srgbClr val="020202"/>
                </a:solidFill>
                <a:latin typeface="Times New Roman" pitchFamily="34" charset="0"/>
                <a:ea typeface="Times New Roman" pitchFamily="34" charset="-122"/>
                <a:cs typeface="Times New Roman" pitchFamily="34" charset="-120"/>
              </a:rPr>
              <a:t>Evidence Novelty N(d, Et): </a:t>
            </a:r>
            <a:pPr algn="just" indent="0" marL="0">
              <a:lnSpc>
                <a:spcPct val="125000"/>
              </a:lnSpc>
              <a:buNone/>
            </a:pPr>
            <a:r>
              <a:rPr lang="en-US" sz="1350" dirty="0">
                <a:solidFill>
                  <a:srgbClr val="020202"/>
                </a:solidFill>
                <a:latin typeface="Times New Roman" pitchFamily="34" charset="0"/>
                <a:ea typeface="Times New Roman" pitchFamily="34" charset="-122"/>
                <a:cs typeface="Times New Roman" pitchFamily="34" charset="-120"/>
              </a:rPr>
              <a:t>1 − the highest similarity of d to any item already in evidence Et (novelty = 1 when Et is empty).
</a:t>
            </a:r>
            <a:pPr algn="just" indent="0" marL="0">
              <a:lnSpc>
                <a:spcPct val="125000"/>
              </a:lnSpc>
              <a:buNone/>
            </a:pPr>
            <a:r>
              <a:rPr lang="en-US" sz="1350" b="1" dirty="0">
                <a:solidFill>
                  <a:srgbClr val="020202"/>
                </a:solidFill>
                <a:latin typeface="Times New Roman" pitchFamily="34" charset="0"/>
                <a:ea typeface="Times New Roman" pitchFamily="34" charset="-122"/>
                <a:cs typeface="Times New Roman" pitchFamily="34" charset="-120"/>
              </a:rPr>
              <a:t>GAR Score: </a:t>
            </a:r>
            <a:pPr algn="just" indent="0" marL="0">
              <a:lnSpc>
                <a:spcPct val="125000"/>
              </a:lnSpc>
              <a:buNone/>
            </a:pPr>
            <a:r>
              <a:rPr lang="en-US" sz="1350" dirty="0">
                <a:solidFill>
                  <a:srgbClr val="020202"/>
                </a:solidFill>
                <a:latin typeface="Times New Roman" pitchFamily="34" charset="0"/>
                <a:ea typeface="Times New Roman" pitchFamily="34" charset="-122"/>
                <a:cs typeface="Times New Roman" pitchFamily="34" charset="-120"/>
              </a:rPr>
              <a:t>S(d | q, Et, Gt) = αR + βC + γN,  with α, β, γ ≥ 0 and α + β + γ = 1. Candidates are ranked by S and the top-k documents Tt are returned for the next MIGRES iteration.</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400" b="1" dirty="0">
                <a:solidFill>
                  <a:srgbClr val="020202"/>
                </a:solidFill>
                <a:latin typeface="Times New Roman" pitchFamily="34" charset="0"/>
                <a:ea typeface="Times New Roman" pitchFamily="34" charset="-122"/>
                <a:cs typeface="Times New Roman" pitchFamily="34" charset="-120"/>
              </a:rPr>
              <a:t>Datasets, Model &amp; Baselines</a:t>
            </a:r>
            <a:endParaRPr lang="en-US" sz="2400" dirty="0"/>
          </a:p>
        </p:txBody>
      </p:sp>
      <p:sp>
        <p:nvSpPr>
          <p:cNvPr id="3" name="Text 1"/>
          <p:cNvSpPr txBox="1"/>
          <p:nvPr/>
        </p:nvSpPr>
        <p:spPr>
          <a:xfrm>
            <a:off x="411480" y="1005840"/>
            <a:ext cx="8321040" cy="274320"/>
          </a:xfrm>
          <a:prstGeom prst="rect">
            <a:avLst/>
          </a:prstGeom>
          <a:noFill/>
          <a:ln/>
        </p:spPr>
        <p:txBody>
          <a:bodyPr wrap="square" lIns="0" tIns="0" rIns="0" bIns="0" rtlCol="0" anchor="ctr"/>
          <a:lstStyle/>
          <a:p>
            <a:pPr indent="0" marL="0">
              <a:buNone/>
            </a:pPr>
            <a:r>
              <a:rPr lang="en-US" sz="1300" b="1" dirty="0">
                <a:solidFill>
                  <a:srgbClr val="020202"/>
                </a:solidFill>
                <a:latin typeface="Times New Roman" pitchFamily="34" charset="0"/>
                <a:ea typeface="Times New Roman" pitchFamily="34" charset="-122"/>
                <a:cs typeface="Times New Roman" pitchFamily="34" charset="-120"/>
              </a:rPr>
              <a:t>Datasets (multi-hop / evidence-based QA):</a:t>
            </a:r>
            <a:endParaRPr lang="en-US" sz="1300" dirty="0"/>
          </a:p>
        </p:txBody>
      </p:sp>
      <p:sp>
        <p:nvSpPr>
          <p:cNvPr id="4" name="Text 2"/>
          <p:cNvSpPr txBox="1"/>
          <p:nvPr/>
        </p:nvSpPr>
        <p:spPr>
          <a:xfrm>
            <a:off x="411480" y="1298448"/>
            <a:ext cx="8321040" cy="411480"/>
          </a:xfrm>
          <a:prstGeom prst="rect">
            <a:avLst/>
          </a:prstGeom>
          <a:noFill/>
          <a:ln/>
        </p:spPr>
        <p:txBody>
          <a:bodyPr wrap="square" lIns="0" tIns="0" rIns="0" bIns="0" rtlCol="0" anchor="ctr"/>
          <a:lstStyle/>
          <a:p>
            <a:pPr indent="0" marL="0">
              <a:buNone/>
            </a:pPr>
            <a:r>
              <a:rPr lang="en-US" sz="1250" i="1" dirty="0">
                <a:solidFill>
                  <a:srgbClr val="020202"/>
                </a:solidFill>
                <a:latin typeface="Times New Roman" pitchFamily="34" charset="0"/>
                <a:ea typeface="Times New Roman" pitchFamily="34" charset="-122"/>
                <a:cs typeface="Times New Roman" pitchFamily="34" charset="-120"/>
              </a:rPr>
              <a:t>WikiHop · HotpotQA (FullWiki) · MuSiQue · Natural Questions · TriviaQA · StrategyQA</a:t>
            </a:r>
            <a:endParaRPr lang="en-US" sz="1250" dirty="0"/>
          </a:p>
        </p:txBody>
      </p:sp>
      <p:sp>
        <p:nvSpPr>
          <p:cNvPr id="5" name="Text 3"/>
          <p:cNvSpPr txBox="1"/>
          <p:nvPr/>
        </p:nvSpPr>
        <p:spPr>
          <a:xfrm>
            <a:off x="411480" y="1783080"/>
            <a:ext cx="8321040" cy="274320"/>
          </a:xfrm>
          <a:prstGeom prst="rect">
            <a:avLst/>
          </a:prstGeom>
          <a:noFill/>
          <a:ln/>
        </p:spPr>
        <p:txBody>
          <a:bodyPr wrap="square" lIns="0" tIns="0" rIns="0" bIns="0" rtlCol="0" anchor="ctr"/>
          <a:lstStyle/>
          <a:p>
            <a:pPr indent="0" marL="0">
              <a:buNone/>
            </a:pPr>
            <a:r>
              <a:rPr lang="en-US" sz="1300" b="1" dirty="0">
                <a:solidFill>
                  <a:srgbClr val="020202"/>
                </a:solidFill>
                <a:latin typeface="Times New Roman" pitchFamily="34" charset="0"/>
                <a:ea typeface="Times New Roman" pitchFamily="34" charset="-122"/>
                <a:cs typeface="Times New Roman" pitchFamily="34" charset="-120"/>
              </a:rPr>
              <a:t>Embedding Model:</a:t>
            </a:r>
            <a:endParaRPr lang="en-US" sz="1300" dirty="0"/>
          </a:p>
        </p:txBody>
      </p:sp>
      <p:sp>
        <p:nvSpPr>
          <p:cNvPr id="6" name="Text 4"/>
          <p:cNvSpPr txBox="1"/>
          <p:nvPr/>
        </p:nvSpPr>
        <p:spPr>
          <a:xfrm>
            <a:off x="411480" y="2075688"/>
            <a:ext cx="8321040" cy="502920"/>
          </a:xfrm>
          <a:prstGeom prst="rect">
            <a:avLst/>
          </a:prstGeom>
          <a:noFill/>
          <a:ln/>
        </p:spPr>
        <p:txBody>
          <a:bodyPr wrap="square" lIns="0" tIns="0" rIns="0" bIns="0" rtlCol="0" anchor="ctr"/>
          <a:lstStyle/>
          <a:p>
            <a:pPr indent="0" marL="0">
              <a:buNone/>
            </a:pPr>
            <a:r>
              <a:rPr lang="en-US" sz="1250" dirty="0">
                <a:solidFill>
                  <a:srgbClr val="020202"/>
                </a:solidFill>
                <a:latin typeface="Times New Roman" pitchFamily="34" charset="0"/>
                <a:ea typeface="Times New Roman" pitchFamily="34" charset="-122"/>
                <a:cs typeface="Times New Roman" pitchFamily="34" charset="-120"/>
              </a:rPr>
              <a:t>sentence-transformers/multi-qa-mpnet-base-cos-v1 (768-dimensional embeddings), used consistently for questions, gaps, documents, and evidence.</a:t>
            </a:r>
            <a:endParaRPr lang="en-US" sz="1250" dirty="0"/>
          </a:p>
        </p:txBody>
      </p:sp>
      <p:sp>
        <p:nvSpPr>
          <p:cNvPr id="7" name="Text 5"/>
          <p:cNvSpPr txBox="1"/>
          <p:nvPr/>
        </p:nvSpPr>
        <p:spPr>
          <a:xfrm>
            <a:off x="411480" y="2651760"/>
            <a:ext cx="8321040" cy="274320"/>
          </a:xfrm>
          <a:prstGeom prst="rect">
            <a:avLst/>
          </a:prstGeom>
          <a:noFill/>
          <a:ln/>
        </p:spPr>
        <p:txBody>
          <a:bodyPr wrap="square" lIns="0" tIns="0" rIns="0" bIns="0" rtlCol="0" anchor="ctr"/>
          <a:lstStyle/>
          <a:p>
            <a:pPr indent="0" marL="0">
              <a:buNone/>
            </a:pPr>
            <a:r>
              <a:rPr lang="en-US" sz="1300" b="1" dirty="0">
                <a:solidFill>
                  <a:srgbClr val="020202"/>
                </a:solidFill>
                <a:latin typeface="Times New Roman" pitchFamily="34" charset="0"/>
                <a:ea typeface="Times New Roman" pitchFamily="34" charset="-122"/>
                <a:cs typeface="Times New Roman" pitchFamily="34" charset="-120"/>
              </a:rPr>
              <a:t>Retrieval Baselines Compared:</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2944368"/>
          <a:ext cx="8321040" cy="914400"/>
        </p:xfrm>
        <a:graphic>
          <a:graphicData uri="http://schemas.openxmlformats.org/drawingml/2006/table">
            <a:tbl>
              <a:tblPr/>
              <a:tblGrid>
                <a:gridCol w="2286000"/>
                <a:gridCol w="1920240"/>
                <a:gridCol w="4114800"/>
              </a:tblGrid>
              <a:tr h="256032">
                <a:tc>
                  <a:txBody>
                    <a:bodyPr/>
                    <a:lstStyle/>
                    <a:p>
                      <a:pPr algn="l" indent="0" marL="0">
                        <a:buNone/>
                      </a:pPr>
                      <a:r>
                        <a:rPr lang="en-US" sz="1050" b="1" dirty="0">
                          <a:solidFill>
                            <a:srgbClr val="FFFFFF"/>
                          </a:solidFill>
                          <a:latin typeface="Times New Roman" pitchFamily="34" charset="0"/>
                          <a:ea typeface="Times New Roman" pitchFamily="34" charset="-122"/>
                          <a:cs typeface="Times New Roman" pitchFamily="34" charset="-120"/>
                        </a:rPr>
                        <a:t>System</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1050" b="1" dirty="0">
                          <a:solidFill>
                            <a:srgbClr val="FFFFFF"/>
                          </a:solidFill>
                          <a:latin typeface="Times New Roman" pitchFamily="34" charset="0"/>
                          <a:ea typeface="Times New Roman" pitchFamily="34" charset="-122"/>
                          <a:cs typeface="Times New Roman" pitchFamily="34" charset="-120"/>
                        </a:rPr>
                        <a:t>Retrieval Type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1050" b="1" dirty="0">
                          <a:solidFill>
                            <a:srgbClr val="FFFFFF"/>
                          </a:solidFill>
                          <a:latin typeface="Times New Roman" pitchFamily="34" charset="0"/>
                          <a:ea typeface="Times New Roman" pitchFamily="34" charset="-122"/>
                          <a:cs typeface="Times New Roman" pitchFamily="34" charset="-120"/>
                        </a:rPr>
                        <a:t>Role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r>
              <a:tr h="256032">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MIGRES + BM25</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Sparse lexical</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Main baseline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56032">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MIGRES + DPR</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Dense bi-encoder</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Supervised dense baseline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r h="256032">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MIGRES + Contriever</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Unsupervised dense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Contrastive-learning baseline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56032">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MIGRES + ColBERTv2</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Late interaction</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Multi-vector baseline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r h="256032">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MIGRES + SPLADE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Neural sparse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Neural sparse baseline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56032">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MIGRES + GAR</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Gap-aware</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algn="l" indent="0" marL="0">
                        <a:buNone/>
                      </a:pPr>
                      <a:r>
                        <a:rPr lang="en-US" sz="1050" dirty="0">
                          <a:solidFill>
                            <a:srgbClr val="020202"/>
                          </a:solidFill>
                          <a:latin typeface="Times New Roman" pitchFamily="34" charset="0"/>
                          <a:ea typeface="Times New Roman" pitchFamily="34" charset="-122"/>
                          <a:cs typeface="Times New Roman" pitchFamily="34" charset="-120"/>
                        </a:rPr>
                        <a:t>Proposed method</a:t>
                      </a:r>
                      <a:endParaRPr lang="en-US" sz="1050" dirty="0">
                        <a:latin typeface="Times New Roman" charset="0"/>
                        <a:ea typeface="Times New Roman" charset="0"/>
                        <a:cs typeface="Times New Roman" charset="0"/>
                      </a:endParaRPr>
                    </a:p>
                  </a:txBody>
                  <a:tcPr marL="50800" marR="508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200" b="1" dirty="0">
                <a:solidFill>
                  <a:srgbClr val="020202"/>
                </a:solidFill>
                <a:latin typeface="Times New Roman" pitchFamily="34" charset="0"/>
                <a:ea typeface="Times New Roman" pitchFamily="34" charset="-122"/>
                <a:cs typeface="Times New Roman" pitchFamily="34" charset="-120"/>
              </a:rPr>
              <a:t>Experimental Design &amp; Evaluation</a:t>
            </a:r>
            <a:endParaRPr lang="en-US" sz="2200" dirty="0"/>
          </a:p>
        </p:txBody>
      </p:sp>
      <p:sp>
        <p:nvSpPr>
          <p:cNvPr id="3" name="Text 1"/>
          <p:cNvSpPr txBox="1"/>
          <p:nvPr/>
        </p:nvSpPr>
        <p:spPr>
          <a:xfrm>
            <a:off x="411480" y="1051560"/>
            <a:ext cx="8321040" cy="3657600"/>
          </a:xfrm>
          <a:prstGeom prst="rect">
            <a:avLst/>
          </a:prstGeom>
          <a:noFill/>
          <a:ln/>
        </p:spPr>
        <p:txBody>
          <a:bodyPr wrap="square" lIns="0" tIns="0" rIns="0" bIns="0" rtlCol="0" anchor="t"/>
          <a:lstStyle/>
          <a:p>
            <a:pPr algn="just" indent="0" marL="0">
              <a:lnSpc>
                <a:spcPct val="120000"/>
              </a:lnSpc>
              <a:buNone/>
            </a:pPr>
            <a:r>
              <a:rPr lang="en-US" sz="1300" b="1" dirty="0">
                <a:solidFill>
                  <a:srgbClr val="020202"/>
                </a:solidFill>
                <a:latin typeface="Times New Roman" pitchFamily="34" charset="0"/>
                <a:ea typeface="Times New Roman" pitchFamily="34" charset="-122"/>
                <a:cs typeface="Times New Roman" pitchFamily="34" charset="-120"/>
              </a:rPr>
              <a:t>Hyperparameters (α, β, γ, λ, K0): </a:t>
            </a:r>
            <a:endParaRPr lang="en-US" sz="1300" dirty="0"/>
          </a:p>
          <a:p>
            <a:pPr algn="just" indent="0" marL="0">
              <a:lnSpc>
                <a:spcPct val="120000"/>
              </a:lnSpc>
              <a:spcAft>
                <a:spcPts val="800"/>
              </a:spcAft>
              <a:buNone/>
            </a:pPr>
            <a:r>
              <a:rPr lang="en-US" sz="1300" dirty="0">
                <a:solidFill>
                  <a:srgbClr val="020202"/>
                </a:solidFill>
                <a:latin typeface="Times New Roman" pitchFamily="34" charset="0"/>
                <a:ea typeface="Times New Roman" pitchFamily="34" charset="-122"/>
                <a:cs typeface="Times New Roman" pitchFamily="34" charset="-120"/>
              </a:rPr>
              <a:t>selected via Bayesian optimization on the validation set, using Recall@k; K0 ∈ {50, 100, 200, 500}; fixed before the test evaluation.</a:t>
            </a:r>
            <a:endParaRPr lang="en-US" sz="1300" dirty="0"/>
          </a:p>
          <a:p>
            <a:pPr algn="just" indent="0" marL="0">
              <a:lnSpc>
                <a:spcPct val="120000"/>
              </a:lnSpc>
              <a:buNone/>
            </a:pPr>
            <a:r>
              <a:rPr lang="en-US" sz="1300" b="1" dirty="0">
                <a:solidFill>
                  <a:srgbClr val="020202"/>
                </a:solidFill>
                <a:latin typeface="Times New Roman" pitchFamily="34" charset="0"/>
                <a:ea typeface="Times New Roman" pitchFamily="34" charset="-122"/>
                <a:cs typeface="Times New Roman" pitchFamily="34" charset="-120"/>
              </a:rPr>
              <a:t>Ablation Study: </a:t>
            </a:r>
            <a:endParaRPr lang="en-US" sz="1300" dirty="0"/>
          </a:p>
          <a:p>
            <a:pPr algn="just" indent="0" marL="0">
              <a:lnSpc>
                <a:spcPct val="120000"/>
              </a:lnSpc>
              <a:spcAft>
                <a:spcPts val="800"/>
              </a:spcAft>
              <a:buNone/>
            </a:pPr>
            <a:r>
              <a:rPr lang="en-US" sz="1300" dirty="0">
                <a:solidFill>
                  <a:srgbClr val="020202"/>
                </a:solidFill>
                <a:latin typeface="Times New Roman" pitchFamily="34" charset="0"/>
                <a:ea typeface="Times New Roman" pitchFamily="34" charset="-122"/>
                <a:cs typeface="Times New Roman" pitchFamily="34" charset="-120"/>
              </a:rPr>
              <a:t>relevance, coverage, and novelty terms are each removed in turn (S−R, S−C, S−N) and compared with the full GAR score.</a:t>
            </a:r>
            <a:endParaRPr lang="en-US" sz="1300" dirty="0"/>
          </a:p>
          <a:p>
            <a:pPr algn="just" indent="0" marL="0">
              <a:lnSpc>
                <a:spcPct val="120000"/>
              </a:lnSpc>
              <a:buNone/>
            </a:pPr>
            <a:r>
              <a:rPr lang="en-US" sz="1300" b="1" dirty="0">
                <a:solidFill>
                  <a:srgbClr val="020202"/>
                </a:solidFill>
                <a:latin typeface="Times New Roman" pitchFamily="34" charset="0"/>
                <a:ea typeface="Times New Roman" pitchFamily="34" charset="-122"/>
                <a:cs typeface="Times New Roman" pitchFamily="34" charset="-120"/>
              </a:rPr>
              <a:t>Candidate-Pool Analysis: </a:t>
            </a:r>
            <a:endParaRPr lang="en-US" sz="1300" dirty="0"/>
          </a:p>
          <a:p>
            <a:pPr algn="just" indent="0" marL="0">
              <a:lnSpc>
                <a:spcPct val="120000"/>
              </a:lnSpc>
              <a:spcAft>
                <a:spcPts val="800"/>
              </a:spcAft>
              <a:buNone/>
            </a:pPr>
            <a:r>
              <a:rPr lang="en-US" sz="1300" dirty="0">
                <a:solidFill>
                  <a:srgbClr val="020202"/>
                </a:solidFill>
                <a:latin typeface="Times New Roman" pitchFamily="34" charset="0"/>
                <a:ea typeface="Times New Roman" pitchFamily="34" charset="-122"/>
                <a:cs typeface="Times New Roman" pitchFamily="34" charset="-120"/>
              </a:rPr>
              <a:t>effect of ANN pool size K0 on retrieval performance and latency.</a:t>
            </a:r>
            <a:endParaRPr lang="en-US" sz="1300" dirty="0"/>
          </a:p>
          <a:p>
            <a:pPr algn="just" indent="0" marL="0">
              <a:lnSpc>
                <a:spcPct val="120000"/>
              </a:lnSpc>
              <a:buNone/>
            </a:pPr>
            <a:r>
              <a:rPr lang="en-US" sz="1300" b="1" dirty="0">
                <a:solidFill>
                  <a:srgbClr val="020202"/>
                </a:solidFill>
                <a:latin typeface="Times New Roman" pitchFamily="34" charset="0"/>
                <a:ea typeface="Times New Roman" pitchFamily="34" charset="-122"/>
                <a:cs typeface="Times New Roman" pitchFamily="34" charset="-120"/>
              </a:rPr>
              <a:t>Evaluation Metrics: </a:t>
            </a:r>
            <a:endParaRPr lang="en-US" sz="1300" dirty="0"/>
          </a:p>
          <a:p>
            <a:pPr algn="just" indent="0" marL="0">
              <a:lnSpc>
                <a:spcPct val="120000"/>
              </a:lnSpc>
              <a:buNone/>
            </a:pPr>
            <a:r>
              <a:rPr lang="en-US" sz="1300" dirty="0">
                <a:solidFill>
                  <a:srgbClr val="020202"/>
                </a:solidFill>
                <a:latin typeface="Times New Roman" pitchFamily="34" charset="0"/>
                <a:ea typeface="Times New Roman" pitchFamily="34" charset="-122"/>
                <a:cs typeface="Times New Roman" pitchFamily="34" charset="-120"/>
              </a:rPr>
              <a:t>Retrieval — Recall@k, Precision@k, MRR, nDCG@k.  Downstream — Exact Match, F1, accuracy, evidence quality.  Efficiency — latency, indexing time, memory, LLM calls / tokens / cost.  Statistical — paired bootstrap or permutation testing with confidence intervals.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200" b="1" dirty="0">
                <a:solidFill>
                  <a:srgbClr val="020202"/>
                </a:solidFill>
                <a:latin typeface="Times New Roman" pitchFamily="34" charset="0"/>
                <a:ea typeface="Times New Roman" pitchFamily="34" charset="-122"/>
                <a:cs typeface="Times New Roman" pitchFamily="34" charset="-120"/>
              </a:rPr>
              <a:t>Software and Hardware Requirements</a:t>
            </a:r>
            <a:endParaRPr lang="en-US" sz="2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8321040" cy="914400"/>
        </p:xfrm>
        <a:graphic>
          <a:graphicData uri="http://schemas.openxmlformats.org/drawingml/2006/table">
            <a:tbl>
              <a:tblPr/>
              <a:tblGrid>
                <a:gridCol w="2194560"/>
                <a:gridCol w="1371600"/>
                <a:gridCol w="4754880"/>
              </a:tblGrid>
              <a:tr h="384048">
                <a:tc>
                  <a:txBody>
                    <a:bodyPr/>
                    <a:lstStyle/>
                    <a:p>
                      <a:pPr algn="l" indent="0" marL="0">
                        <a:buNone/>
                      </a:pPr>
                      <a:r>
                        <a:rPr lang="en-US" sz="1100" b="1" dirty="0">
                          <a:solidFill>
                            <a:srgbClr val="FFFFFF"/>
                          </a:solidFill>
                          <a:latin typeface="Times New Roman" pitchFamily="34" charset="0"/>
                          <a:ea typeface="Times New Roman" pitchFamily="34" charset="-122"/>
                          <a:cs typeface="Times New Roman" pitchFamily="34" charset="-120"/>
                        </a:rPr>
                        <a:t>Software / Tool</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1100" b="1" dirty="0">
                          <a:solidFill>
                            <a:srgbClr val="FFFFFF"/>
                          </a:solidFill>
                          <a:latin typeface="Times New Roman" pitchFamily="34" charset="0"/>
                          <a:ea typeface="Times New Roman" pitchFamily="34" charset="-122"/>
                          <a:cs typeface="Times New Roman" pitchFamily="34" charset="-120"/>
                        </a:rPr>
                        <a:t>Version</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l" indent="0" marL="0">
                        <a:buNone/>
                      </a:pPr>
                      <a:r>
                        <a:rPr lang="en-US" sz="1100" b="1" dirty="0">
                          <a:solidFill>
                            <a:srgbClr val="FFFFFF"/>
                          </a:solidFill>
                          <a:latin typeface="Times New Roman" pitchFamily="34" charset="0"/>
                          <a:ea typeface="Times New Roman" pitchFamily="34" charset="-122"/>
                          <a:cs typeface="Times New Roman" pitchFamily="34" charset="-120"/>
                        </a:rPr>
                        <a:t>Purpose</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r>
              <a:tr h="384048">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Python</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3.14.7</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Implementation, data processing, evaluation</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Jupyter Notebook</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7.6.2</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Experiment development and analysis</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r h="384048">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PyTorch</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2.13.0</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Tensor computation, model execution</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Sentence Transformers</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5.6.1</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Semantic embeddings (multi-qa-mpnet-base-cos-v1)</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r h="384048">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Pinecone Client</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v9.1.0</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Vector storage and ANN similarity search</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Bayesian Optimization</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3.3.0</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GAR hyperparameter search</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r>
              <a:tr h="384048">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LaTeX (Overleaf)</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20202"/>
                          </a:solidFill>
                          <a:latin typeface="Times New Roman" pitchFamily="34" charset="0"/>
                          <a:ea typeface="Times New Roman" pitchFamily="34" charset="-122"/>
                          <a:cs typeface="Times New Roman" pitchFamily="34" charset="-120"/>
                        </a:rPr>
                        <a:t>Research document preparation</a:t>
                      </a:r>
                      <a:endParaRPr lang="en-US" sz="11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11480" y="4343400"/>
            <a:ext cx="8321040" cy="502920"/>
          </a:xfrm>
          <a:prstGeom prst="rect">
            <a:avLst/>
          </a:prstGeom>
          <a:noFill/>
          <a:ln/>
        </p:spPr>
        <p:txBody>
          <a:bodyPr wrap="square" lIns="0" tIns="0" rIns="0" bIns="0" rtlCol="0" anchor="ctr"/>
          <a:lstStyle/>
          <a:p>
            <a:pPr indent="0" marL="0">
              <a:buNone/>
            </a:pPr>
            <a:r>
              <a:rPr lang="en-US" sz="1150" i="1" dirty="0">
                <a:solidFill>
                  <a:srgbClr val="020202"/>
                </a:solidFill>
                <a:latin typeface="Times New Roman" pitchFamily="34" charset="0"/>
                <a:ea typeface="Times New Roman" pitchFamily="34" charset="-122"/>
                <a:cs typeface="Times New Roman" pitchFamily="34" charset="-120"/>
              </a:rPr>
              <a:t>Modules: Retrieval Module (embedding + ANN search) · Scoring Module (R, C, N → GAR score) · Selection Module (Top-k ranking, hand-off to MIGRES).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800" b="1" dirty="0">
                <a:solidFill>
                  <a:srgbClr val="020202"/>
                </a:solidFill>
                <a:latin typeface="Times New Roman" pitchFamily="34" charset="0"/>
                <a:ea typeface="Times New Roman" pitchFamily="34" charset="-122"/>
                <a:cs typeface="Times New Roman" pitchFamily="34" charset="-120"/>
              </a:rPr>
              <a:t>Applications</a:t>
            </a:r>
            <a:endParaRPr lang="en-US" sz="2800" dirty="0"/>
          </a:p>
        </p:txBody>
      </p:sp>
      <p:sp>
        <p:nvSpPr>
          <p:cNvPr id="3" name="Text 1"/>
          <p:cNvSpPr txBox="1"/>
          <p:nvPr/>
        </p:nvSpPr>
        <p:spPr>
          <a:xfrm>
            <a:off x="411480" y="1188720"/>
            <a:ext cx="8321040" cy="35204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Multi-Hop Question Answering: suited to questions whose answers require complementary information from multiple documents or retrieval steps.</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Iterative Retrieval-Augmented Generation: GAR can serve as a retrieval component in RAG systems that repeatedly acquire evidence as the answer develops.</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Research-Oriented Evidence Retrieval: gap and evidence signals help systems focus on information still required rather than re-collecting covered material.</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Large-Scale Evidence Gathering: ANN candidate generation lets retrieval scale to large collections while GAR scoring stays on a manageable candidate set.</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Missing-Information-Guided AI Systems: applicable to any system that maintains an explicit information-gap state to feed into retrieval.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400" b="1" dirty="0">
                <a:solidFill>
                  <a:srgbClr val="020202"/>
                </a:solidFill>
                <a:latin typeface="Times New Roman" pitchFamily="34" charset="0"/>
                <a:ea typeface="Times New Roman" pitchFamily="34" charset="-122"/>
                <a:cs typeface="Times New Roman" pitchFamily="34" charset="-120"/>
              </a:rPr>
              <a:t>Planning &amp; Gantt Chart</a:t>
            </a:r>
            <a:endParaRPr lang="en-US" sz="2400" dirty="0"/>
          </a:p>
        </p:txBody>
      </p:sp>
      <p:sp>
        <p:nvSpPr>
          <p:cNvPr id="3" name="Shape 1"/>
          <p:cNvSpPr/>
          <p:nvPr/>
        </p:nvSpPr>
        <p:spPr>
          <a:xfrm>
            <a:off x="2240280" y="960120"/>
            <a:ext cx="721360" cy="292608"/>
          </a:xfrm>
          <a:prstGeom prst="rect">
            <a:avLst/>
          </a:prstGeom>
          <a:solidFill>
            <a:srgbClr val="4472C4"/>
          </a:solidFill>
          <a:ln w="9525">
            <a:solidFill>
              <a:srgbClr val="FFFFFF"/>
            </a:solidFill>
            <a:prstDash val="solid"/>
          </a:ln>
        </p:spPr>
      </p:sp>
      <p:sp>
        <p:nvSpPr>
          <p:cNvPr id="4" name="Text 2"/>
          <p:cNvSpPr txBox="1"/>
          <p:nvPr/>
        </p:nvSpPr>
        <p:spPr>
          <a:xfrm>
            <a:off x="2240280" y="960120"/>
            <a:ext cx="721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MAR</a:t>
            </a:r>
            <a:endParaRPr lang="en-US" sz="900" dirty="0"/>
          </a:p>
        </p:txBody>
      </p:sp>
      <p:sp>
        <p:nvSpPr>
          <p:cNvPr id="5" name="Shape 3"/>
          <p:cNvSpPr/>
          <p:nvPr/>
        </p:nvSpPr>
        <p:spPr>
          <a:xfrm>
            <a:off x="2961640" y="960120"/>
            <a:ext cx="721360" cy="292608"/>
          </a:xfrm>
          <a:prstGeom prst="rect">
            <a:avLst/>
          </a:prstGeom>
          <a:solidFill>
            <a:srgbClr val="4472C4"/>
          </a:solidFill>
          <a:ln w="9525">
            <a:solidFill>
              <a:srgbClr val="FFFFFF"/>
            </a:solidFill>
            <a:prstDash val="solid"/>
          </a:ln>
        </p:spPr>
      </p:sp>
      <p:sp>
        <p:nvSpPr>
          <p:cNvPr id="6" name="Text 4"/>
          <p:cNvSpPr txBox="1"/>
          <p:nvPr/>
        </p:nvSpPr>
        <p:spPr>
          <a:xfrm>
            <a:off x="2961640" y="960120"/>
            <a:ext cx="721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APR</a:t>
            </a:r>
            <a:endParaRPr lang="en-US" sz="900" dirty="0"/>
          </a:p>
        </p:txBody>
      </p:sp>
      <p:sp>
        <p:nvSpPr>
          <p:cNvPr id="7" name="Shape 5"/>
          <p:cNvSpPr/>
          <p:nvPr/>
        </p:nvSpPr>
        <p:spPr>
          <a:xfrm>
            <a:off x="3683000" y="960120"/>
            <a:ext cx="721360" cy="292608"/>
          </a:xfrm>
          <a:prstGeom prst="rect">
            <a:avLst/>
          </a:prstGeom>
          <a:solidFill>
            <a:srgbClr val="4472C4"/>
          </a:solidFill>
          <a:ln w="9525">
            <a:solidFill>
              <a:srgbClr val="FFFFFF"/>
            </a:solidFill>
            <a:prstDash val="solid"/>
          </a:ln>
        </p:spPr>
      </p:sp>
      <p:sp>
        <p:nvSpPr>
          <p:cNvPr id="8" name="Text 6"/>
          <p:cNvSpPr txBox="1"/>
          <p:nvPr/>
        </p:nvSpPr>
        <p:spPr>
          <a:xfrm>
            <a:off x="3683000" y="960120"/>
            <a:ext cx="721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MAY</a:t>
            </a:r>
            <a:endParaRPr lang="en-US" sz="900" dirty="0"/>
          </a:p>
        </p:txBody>
      </p:sp>
      <p:sp>
        <p:nvSpPr>
          <p:cNvPr id="9" name="Shape 7"/>
          <p:cNvSpPr/>
          <p:nvPr/>
        </p:nvSpPr>
        <p:spPr>
          <a:xfrm>
            <a:off x="4404360" y="960120"/>
            <a:ext cx="721360" cy="292608"/>
          </a:xfrm>
          <a:prstGeom prst="rect">
            <a:avLst/>
          </a:prstGeom>
          <a:solidFill>
            <a:srgbClr val="4472C4"/>
          </a:solidFill>
          <a:ln w="9525">
            <a:solidFill>
              <a:srgbClr val="FFFFFF"/>
            </a:solidFill>
            <a:prstDash val="solid"/>
          </a:ln>
        </p:spPr>
      </p:sp>
      <p:sp>
        <p:nvSpPr>
          <p:cNvPr id="10" name="Text 8"/>
          <p:cNvSpPr txBox="1"/>
          <p:nvPr/>
        </p:nvSpPr>
        <p:spPr>
          <a:xfrm>
            <a:off x="4404360" y="960120"/>
            <a:ext cx="721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JUN</a:t>
            </a:r>
            <a:endParaRPr lang="en-US" sz="900" dirty="0"/>
          </a:p>
        </p:txBody>
      </p:sp>
      <p:sp>
        <p:nvSpPr>
          <p:cNvPr id="11" name="Shape 9"/>
          <p:cNvSpPr/>
          <p:nvPr/>
        </p:nvSpPr>
        <p:spPr>
          <a:xfrm>
            <a:off x="5125720" y="960120"/>
            <a:ext cx="721360" cy="292608"/>
          </a:xfrm>
          <a:prstGeom prst="rect">
            <a:avLst/>
          </a:prstGeom>
          <a:solidFill>
            <a:srgbClr val="4472C4"/>
          </a:solidFill>
          <a:ln w="9525">
            <a:solidFill>
              <a:srgbClr val="FFFFFF"/>
            </a:solidFill>
            <a:prstDash val="solid"/>
          </a:ln>
        </p:spPr>
      </p:sp>
      <p:sp>
        <p:nvSpPr>
          <p:cNvPr id="12" name="Text 10"/>
          <p:cNvSpPr txBox="1"/>
          <p:nvPr/>
        </p:nvSpPr>
        <p:spPr>
          <a:xfrm>
            <a:off x="5125720" y="960120"/>
            <a:ext cx="721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JUL</a:t>
            </a:r>
            <a:endParaRPr lang="en-US" sz="900" dirty="0"/>
          </a:p>
        </p:txBody>
      </p:sp>
      <p:sp>
        <p:nvSpPr>
          <p:cNvPr id="13" name="Shape 11"/>
          <p:cNvSpPr/>
          <p:nvPr/>
        </p:nvSpPr>
        <p:spPr>
          <a:xfrm>
            <a:off x="5847080" y="960120"/>
            <a:ext cx="721360" cy="292608"/>
          </a:xfrm>
          <a:prstGeom prst="rect">
            <a:avLst/>
          </a:prstGeom>
          <a:solidFill>
            <a:srgbClr val="4472C4"/>
          </a:solidFill>
          <a:ln w="9525">
            <a:solidFill>
              <a:srgbClr val="FFFFFF"/>
            </a:solidFill>
            <a:prstDash val="solid"/>
          </a:ln>
        </p:spPr>
      </p:sp>
      <p:sp>
        <p:nvSpPr>
          <p:cNvPr id="14" name="Text 12"/>
          <p:cNvSpPr txBox="1"/>
          <p:nvPr/>
        </p:nvSpPr>
        <p:spPr>
          <a:xfrm>
            <a:off x="5847080" y="960120"/>
            <a:ext cx="721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AUG</a:t>
            </a:r>
            <a:endParaRPr lang="en-US" sz="900" dirty="0"/>
          </a:p>
        </p:txBody>
      </p:sp>
      <p:sp>
        <p:nvSpPr>
          <p:cNvPr id="15" name="Shape 13"/>
          <p:cNvSpPr/>
          <p:nvPr/>
        </p:nvSpPr>
        <p:spPr>
          <a:xfrm>
            <a:off x="6568440" y="960120"/>
            <a:ext cx="721360" cy="292608"/>
          </a:xfrm>
          <a:prstGeom prst="rect">
            <a:avLst/>
          </a:prstGeom>
          <a:solidFill>
            <a:srgbClr val="4472C4"/>
          </a:solidFill>
          <a:ln w="9525">
            <a:solidFill>
              <a:srgbClr val="FFFFFF"/>
            </a:solidFill>
            <a:prstDash val="solid"/>
          </a:ln>
        </p:spPr>
      </p:sp>
      <p:sp>
        <p:nvSpPr>
          <p:cNvPr id="16" name="Text 14"/>
          <p:cNvSpPr txBox="1"/>
          <p:nvPr/>
        </p:nvSpPr>
        <p:spPr>
          <a:xfrm>
            <a:off x="6568440" y="960120"/>
            <a:ext cx="721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SEPT</a:t>
            </a:r>
            <a:endParaRPr lang="en-US" sz="900" dirty="0"/>
          </a:p>
        </p:txBody>
      </p:sp>
      <p:sp>
        <p:nvSpPr>
          <p:cNvPr id="17" name="Shape 15"/>
          <p:cNvSpPr/>
          <p:nvPr/>
        </p:nvSpPr>
        <p:spPr>
          <a:xfrm>
            <a:off x="7289800" y="960120"/>
            <a:ext cx="721360" cy="292608"/>
          </a:xfrm>
          <a:prstGeom prst="rect">
            <a:avLst/>
          </a:prstGeom>
          <a:solidFill>
            <a:srgbClr val="4472C4"/>
          </a:solidFill>
          <a:ln w="9525">
            <a:solidFill>
              <a:srgbClr val="FFFFFF"/>
            </a:solidFill>
            <a:prstDash val="solid"/>
          </a:ln>
        </p:spPr>
      </p:sp>
      <p:sp>
        <p:nvSpPr>
          <p:cNvPr id="18" name="Text 16"/>
          <p:cNvSpPr txBox="1"/>
          <p:nvPr/>
        </p:nvSpPr>
        <p:spPr>
          <a:xfrm>
            <a:off x="7289800" y="960120"/>
            <a:ext cx="721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OCT</a:t>
            </a:r>
            <a:endParaRPr lang="en-US" sz="900" dirty="0"/>
          </a:p>
        </p:txBody>
      </p:sp>
      <p:sp>
        <p:nvSpPr>
          <p:cNvPr id="19" name="Shape 17"/>
          <p:cNvSpPr/>
          <p:nvPr/>
        </p:nvSpPr>
        <p:spPr>
          <a:xfrm>
            <a:off x="8011160" y="960120"/>
            <a:ext cx="721360" cy="292608"/>
          </a:xfrm>
          <a:prstGeom prst="rect">
            <a:avLst/>
          </a:prstGeom>
          <a:solidFill>
            <a:srgbClr val="4472C4"/>
          </a:solidFill>
          <a:ln w="9525">
            <a:solidFill>
              <a:srgbClr val="FFFFFF"/>
            </a:solidFill>
            <a:prstDash val="solid"/>
          </a:ln>
        </p:spPr>
      </p:sp>
      <p:sp>
        <p:nvSpPr>
          <p:cNvPr id="20" name="Text 18"/>
          <p:cNvSpPr txBox="1"/>
          <p:nvPr/>
        </p:nvSpPr>
        <p:spPr>
          <a:xfrm>
            <a:off x="8011160" y="960120"/>
            <a:ext cx="7213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NOV</a:t>
            </a:r>
            <a:endParaRPr lang="en-US" sz="900" dirty="0"/>
          </a:p>
        </p:txBody>
      </p:sp>
      <p:sp>
        <p:nvSpPr>
          <p:cNvPr id="21" name="Shape 19"/>
          <p:cNvSpPr/>
          <p:nvPr/>
        </p:nvSpPr>
        <p:spPr>
          <a:xfrm>
            <a:off x="411480" y="960120"/>
            <a:ext cx="1828800" cy="292608"/>
          </a:xfrm>
          <a:prstGeom prst="rect">
            <a:avLst/>
          </a:prstGeom>
          <a:solidFill>
            <a:srgbClr val="4472C4"/>
          </a:solidFill>
          <a:ln w="9525">
            <a:solidFill>
              <a:srgbClr val="FFFFFF"/>
            </a:solidFill>
            <a:prstDash val="solid"/>
          </a:ln>
        </p:spPr>
      </p:sp>
      <p:sp>
        <p:nvSpPr>
          <p:cNvPr id="22" name="Text 20"/>
          <p:cNvSpPr txBox="1"/>
          <p:nvPr/>
        </p:nvSpPr>
        <p:spPr>
          <a:xfrm>
            <a:off x="411480" y="960120"/>
            <a:ext cx="182880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ACTIVITY</a:t>
            </a:r>
            <a:endParaRPr lang="en-US" sz="900" dirty="0"/>
          </a:p>
        </p:txBody>
      </p:sp>
      <p:sp>
        <p:nvSpPr>
          <p:cNvPr id="23" name="Shape 21"/>
          <p:cNvSpPr/>
          <p:nvPr/>
        </p:nvSpPr>
        <p:spPr>
          <a:xfrm>
            <a:off x="411480" y="1252728"/>
            <a:ext cx="1828800" cy="384048"/>
          </a:xfrm>
          <a:prstGeom prst="rect">
            <a:avLst/>
          </a:prstGeom>
          <a:solidFill>
            <a:srgbClr val="D9E2F3"/>
          </a:solidFill>
          <a:ln w="9525">
            <a:solidFill>
              <a:srgbClr val="FFFFFF"/>
            </a:solidFill>
            <a:prstDash val="solid"/>
          </a:ln>
        </p:spPr>
      </p:sp>
      <p:sp>
        <p:nvSpPr>
          <p:cNvPr id="24" name="Text 22"/>
          <p:cNvSpPr txBox="1"/>
          <p:nvPr/>
        </p:nvSpPr>
        <p:spPr>
          <a:xfrm>
            <a:off x="457200" y="1252728"/>
            <a:ext cx="1737360" cy="384048"/>
          </a:xfrm>
          <a:prstGeom prst="rect">
            <a:avLst/>
          </a:prstGeom>
          <a:noFill/>
          <a:ln/>
        </p:spPr>
        <p:txBody>
          <a:bodyPr wrap="square" lIns="0" tIns="0" rIns="0" bIns="0" rtlCol="0" anchor="ctr"/>
          <a:lstStyle/>
          <a:p>
            <a:pPr algn="l" indent="0" marL="0">
              <a:buNone/>
            </a:pPr>
            <a:r>
              <a:rPr lang="en-US" sz="850" b="1" dirty="0">
                <a:solidFill>
                  <a:srgbClr val="020202"/>
                </a:solidFill>
                <a:latin typeface="Times New Roman" pitchFamily="34" charset="0"/>
                <a:ea typeface="Times New Roman" pitchFamily="34" charset="-122"/>
                <a:cs typeface="Times New Roman" pitchFamily="34" charset="-120"/>
              </a:rPr>
              <a:t>FEASIBILITY STUDY</a:t>
            </a:r>
            <a:endParaRPr lang="en-US" sz="850" dirty="0"/>
          </a:p>
        </p:txBody>
      </p:sp>
      <p:sp>
        <p:nvSpPr>
          <p:cNvPr id="25" name="Shape 23"/>
          <p:cNvSpPr/>
          <p:nvPr/>
        </p:nvSpPr>
        <p:spPr>
          <a:xfrm>
            <a:off x="2240280" y="1252728"/>
            <a:ext cx="721360" cy="384048"/>
          </a:xfrm>
          <a:prstGeom prst="rect">
            <a:avLst/>
          </a:prstGeom>
          <a:solidFill>
            <a:srgbClr val="FFFFFF"/>
          </a:solidFill>
          <a:ln w="9525">
            <a:solidFill>
              <a:srgbClr val="FFFFFF"/>
            </a:solidFill>
            <a:prstDash val="solid"/>
          </a:ln>
        </p:spPr>
      </p:sp>
      <p:sp>
        <p:nvSpPr>
          <p:cNvPr id="26" name="Shape 24"/>
          <p:cNvSpPr/>
          <p:nvPr/>
        </p:nvSpPr>
        <p:spPr>
          <a:xfrm>
            <a:off x="2961640" y="1252728"/>
            <a:ext cx="721360" cy="384048"/>
          </a:xfrm>
          <a:prstGeom prst="rect">
            <a:avLst/>
          </a:prstGeom>
          <a:solidFill>
            <a:srgbClr val="FFFFFF"/>
          </a:solidFill>
          <a:ln w="9525">
            <a:solidFill>
              <a:srgbClr val="FFFFFF"/>
            </a:solidFill>
            <a:prstDash val="solid"/>
          </a:ln>
        </p:spPr>
      </p:sp>
      <p:sp>
        <p:nvSpPr>
          <p:cNvPr id="27" name="Shape 25"/>
          <p:cNvSpPr/>
          <p:nvPr/>
        </p:nvSpPr>
        <p:spPr>
          <a:xfrm>
            <a:off x="3683000" y="1252728"/>
            <a:ext cx="721360" cy="384048"/>
          </a:xfrm>
          <a:prstGeom prst="rect">
            <a:avLst/>
          </a:prstGeom>
          <a:solidFill>
            <a:srgbClr val="70AD47"/>
          </a:solidFill>
          <a:ln w="9525">
            <a:solidFill>
              <a:srgbClr val="FFFFFF"/>
            </a:solidFill>
            <a:prstDash val="solid"/>
          </a:ln>
        </p:spPr>
      </p:sp>
      <p:sp>
        <p:nvSpPr>
          <p:cNvPr id="28" name="Shape 26"/>
          <p:cNvSpPr/>
          <p:nvPr/>
        </p:nvSpPr>
        <p:spPr>
          <a:xfrm>
            <a:off x="4404360" y="1252728"/>
            <a:ext cx="721360" cy="384048"/>
          </a:xfrm>
          <a:prstGeom prst="rect">
            <a:avLst/>
          </a:prstGeom>
          <a:solidFill>
            <a:srgbClr val="FFFFFF"/>
          </a:solidFill>
          <a:ln w="9525">
            <a:solidFill>
              <a:srgbClr val="FFFFFF"/>
            </a:solidFill>
            <a:prstDash val="solid"/>
          </a:ln>
        </p:spPr>
      </p:sp>
      <p:sp>
        <p:nvSpPr>
          <p:cNvPr id="29" name="Shape 27"/>
          <p:cNvSpPr/>
          <p:nvPr/>
        </p:nvSpPr>
        <p:spPr>
          <a:xfrm>
            <a:off x="5125720" y="1252728"/>
            <a:ext cx="721360" cy="384048"/>
          </a:xfrm>
          <a:prstGeom prst="rect">
            <a:avLst/>
          </a:prstGeom>
          <a:solidFill>
            <a:srgbClr val="FFFFFF"/>
          </a:solidFill>
          <a:ln w="9525">
            <a:solidFill>
              <a:srgbClr val="FFFFFF"/>
            </a:solidFill>
            <a:prstDash val="solid"/>
          </a:ln>
        </p:spPr>
      </p:sp>
      <p:sp>
        <p:nvSpPr>
          <p:cNvPr id="30" name="Shape 28"/>
          <p:cNvSpPr/>
          <p:nvPr/>
        </p:nvSpPr>
        <p:spPr>
          <a:xfrm>
            <a:off x="5847080" y="1252728"/>
            <a:ext cx="721360" cy="384048"/>
          </a:xfrm>
          <a:prstGeom prst="rect">
            <a:avLst/>
          </a:prstGeom>
          <a:solidFill>
            <a:srgbClr val="FFFFFF"/>
          </a:solidFill>
          <a:ln w="9525">
            <a:solidFill>
              <a:srgbClr val="FFFFFF"/>
            </a:solidFill>
            <a:prstDash val="solid"/>
          </a:ln>
        </p:spPr>
      </p:sp>
      <p:sp>
        <p:nvSpPr>
          <p:cNvPr id="31" name="Shape 29"/>
          <p:cNvSpPr/>
          <p:nvPr/>
        </p:nvSpPr>
        <p:spPr>
          <a:xfrm>
            <a:off x="6568440" y="1252728"/>
            <a:ext cx="721360" cy="384048"/>
          </a:xfrm>
          <a:prstGeom prst="rect">
            <a:avLst/>
          </a:prstGeom>
          <a:solidFill>
            <a:srgbClr val="FFFFFF"/>
          </a:solidFill>
          <a:ln w="9525">
            <a:solidFill>
              <a:srgbClr val="FFFFFF"/>
            </a:solidFill>
            <a:prstDash val="solid"/>
          </a:ln>
        </p:spPr>
      </p:sp>
      <p:sp>
        <p:nvSpPr>
          <p:cNvPr id="32" name="Shape 30"/>
          <p:cNvSpPr/>
          <p:nvPr/>
        </p:nvSpPr>
        <p:spPr>
          <a:xfrm>
            <a:off x="7289800" y="1252728"/>
            <a:ext cx="721360" cy="384048"/>
          </a:xfrm>
          <a:prstGeom prst="rect">
            <a:avLst/>
          </a:prstGeom>
          <a:solidFill>
            <a:srgbClr val="FFFFFF"/>
          </a:solidFill>
          <a:ln w="9525">
            <a:solidFill>
              <a:srgbClr val="FFFFFF"/>
            </a:solidFill>
            <a:prstDash val="solid"/>
          </a:ln>
        </p:spPr>
      </p:sp>
      <p:sp>
        <p:nvSpPr>
          <p:cNvPr id="33" name="Shape 31"/>
          <p:cNvSpPr/>
          <p:nvPr/>
        </p:nvSpPr>
        <p:spPr>
          <a:xfrm>
            <a:off x="8011160" y="1252728"/>
            <a:ext cx="721360" cy="384048"/>
          </a:xfrm>
          <a:prstGeom prst="rect">
            <a:avLst/>
          </a:prstGeom>
          <a:solidFill>
            <a:srgbClr val="FFFFFF"/>
          </a:solidFill>
          <a:ln w="9525">
            <a:solidFill>
              <a:srgbClr val="FFFFFF"/>
            </a:solidFill>
            <a:prstDash val="solid"/>
          </a:ln>
        </p:spPr>
      </p:sp>
      <p:sp>
        <p:nvSpPr>
          <p:cNvPr id="34" name="Shape 32"/>
          <p:cNvSpPr/>
          <p:nvPr/>
        </p:nvSpPr>
        <p:spPr>
          <a:xfrm>
            <a:off x="411480" y="1636776"/>
            <a:ext cx="1828800" cy="384048"/>
          </a:xfrm>
          <a:prstGeom prst="rect">
            <a:avLst/>
          </a:prstGeom>
          <a:solidFill>
            <a:srgbClr val="D9E2F3"/>
          </a:solidFill>
          <a:ln w="9525">
            <a:solidFill>
              <a:srgbClr val="FFFFFF"/>
            </a:solidFill>
            <a:prstDash val="solid"/>
          </a:ln>
        </p:spPr>
      </p:sp>
      <p:sp>
        <p:nvSpPr>
          <p:cNvPr id="35" name="Text 33"/>
          <p:cNvSpPr txBox="1"/>
          <p:nvPr/>
        </p:nvSpPr>
        <p:spPr>
          <a:xfrm>
            <a:off x="457200" y="1636776"/>
            <a:ext cx="1737360" cy="384048"/>
          </a:xfrm>
          <a:prstGeom prst="rect">
            <a:avLst/>
          </a:prstGeom>
          <a:noFill/>
          <a:ln/>
        </p:spPr>
        <p:txBody>
          <a:bodyPr wrap="square" lIns="0" tIns="0" rIns="0" bIns="0" rtlCol="0" anchor="ctr"/>
          <a:lstStyle/>
          <a:p>
            <a:pPr algn="l" indent="0" marL="0">
              <a:buNone/>
            </a:pPr>
            <a:r>
              <a:rPr lang="en-US" sz="850" b="1" dirty="0">
                <a:solidFill>
                  <a:srgbClr val="020202"/>
                </a:solidFill>
                <a:latin typeface="Times New Roman" pitchFamily="34" charset="0"/>
                <a:ea typeface="Times New Roman" pitchFamily="34" charset="-122"/>
                <a:cs typeface="Times New Roman" pitchFamily="34" charset="-120"/>
              </a:rPr>
              <a:t>LITERATURE SURVEY</a:t>
            </a:r>
            <a:endParaRPr lang="en-US" sz="850" dirty="0"/>
          </a:p>
        </p:txBody>
      </p:sp>
      <p:sp>
        <p:nvSpPr>
          <p:cNvPr id="36" name="Shape 34"/>
          <p:cNvSpPr/>
          <p:nvPr/>
        </p:nvSpPr>
        <p:spPr>
          <a:xfrm>
            <a:off x="2240280" y="1636776"/>
            <a:ext cx="721360" cy="384048"/>
          </a:xfrm>
          <a:prstGeom prst="rect">
            <a:avLst/>
          </a:prstGeom>
          <a:solidFill>
            <a:srgbClr val="FFFFFF"/>
          </a:solidFill>
          <a:ln w="9525">
            <a:solidFill>
              <a:srgbClr val="FFFFFF"/>
            </a:solidFill>
            <a:prstDash val="solid"/>
          </a:ln>
        </p:spPr>
      </p:sp>
      <p:sp>
        <p:nvSpPr>
          <p:cNvPr id="37" name="Shape 35"/>
          <p:cNvSpPr/>
          <p:nvPr/>
        </p:nvSpPr>
        <p:spPr>
          <a:xfrm>
            <a:off x="2961640" y="1636776"/>
            <a:ext cx="721360" cy="384048"/>
          </a:xfrm>
          <a:prstGeom prst="rect">
            <a:avLst/>
          </a:prstGeom>
          <a:solidFill>
            <a:srgbClr val="FFFFFF"/>
          </a:solidFill>
          <a:ln w="9525">
            <a:solidFill>
              <a:srgbClr val="FFFFFF"/>
            </a:solidFill>
            <a:prstDash val="solid"/>
          </a:ln>
        </p:spPr>
      </p:sp>
      <p:sp>
        <p:nvSpPr>
          <p:cNvPr id="38" name="Shape 36"/>
          <p:cNvSpPr/>
          <p:nvPr/>
        </p:nvSpPr>
        <p:spPr>
          <a:xfrm>
            <a:off x="3683000" y="1636776"/>
            <a:ext cx="721360" cy="384048"/>
          </a:xfrm>
          <a:prstGeom prst="rect">
            <a:avLst/>
          </a:prstGeom>
          <a:solidFill>
            <a:srgbClr val="70AD47"/>
          </a:solidFill>
          <a:ln w="9525">
            <a:solidFill>
              <a:srgbClr val="FFFFFF"/>
            </a:solidFill>
            <a:prstDash val="solid"/>
          </a:ln>
        </p:spPr>
      </p:sp>
      <p:sp>
        <p:nvSpPr>
          <p:cNvPr id="39" name="Shape 37"/>
          <p:cNvSpPr/>
          <p:nvPr/>
        </p:nvSpPr>
        <p:spPr>
          <a:xfrm>
            <a:off x="4404360" y="1636776"/>
            <a:ext cx="721360" cy="384048"/>
          </a:xfrm>
          <a:prstGeom prst="rect">
            <a:avLst/>
          </a:prstGeom>
          <a:solidFill>
            <a:srgbClr val="70AD47"/>
          </a:solidFill>
          <a:ln w="9525">
            <a:solidFill>
              <a:srgbClr val="FFFFFF"/>
            </a:solidFill>
            <a:prstDash val="solid"/>
          </a:ln>
        </p:spPr>
      </p:sp>
      <p:sp>
        <p:nvSpPr>
          <p:cNvPr id="40" name="Shape 38"/>
          <p:cNvSpPr/>
          <p:nvPr/>
        </p:nvSpPr>
        <p:spPr>
          <a:xfrm>
            <a:off x="5125720" y="1636776"/>
            <a:ext cx="721360" cy="384048"/>
          </a:xfrm>
          <a:prstGeom prst="rect">
            <a:avLst/>
          </a:prstGeom>
          <a:solidFill>
            <a:srgbClr val="C00000"/>
          </a:solidFill>
          <a:ln w="9525">
            <a:solidFill>
              <a:srgbClr val="FFFFFF"/>
            </a:solidFill>
            <a:prstDash val="solid"/>
          </a:ln>
        </p:spPr>
      </p:sp>
      <p:sp>
        <p:nvSpPr>
          <p:cNvPr id="41" name="Shape 39"/>
          <p:cNvSpPr/>
          <p:nvPr/>
        </p:nvSpPr>
        <p:spPr>
          <a:xfrm>
            <a:off x="5847080" y="1636776"/>
            <a:ext cx="721360" cy="384048"/>
          </a:xfrm>
          <a:prstGeom prst="rect">
            <a:avLst/>
          </a:prstGeom>
          <a:solidFill>
            <a:srgbClr val="FFFFFF"/>
          </a:solidFill>
          <a:ln w="9525">
            <a:solidFill>
              <a:srgbClr val="FFFFFF"/>
            </a:solidFill>
            <a:prstDash val="solid"/>
          </a:ln>
        </p:spPr>
      </p:sp>
      <p:sp>
        <p:nvSpPr>
          <p:cNvPr id="42" name="Shape 40"/>
          <p:cNvSpPr/>
          <p:nvPr/>
        </p:nvSpPr>
        <p:spPr>
          <a:xfrm>
            <a:off x="6568440" y="1636776"/>
            <a:ext cx="721360" cy="384048"/>
          </a:xfrm>
          <a:prstGeom prst="rect">
            <a:avLst/>
          </a:prstGeom>
          <a:solidFill>
            <a:srgbClr val="FFFFFF"/>
          </a:solidFill>
          <a:ln w="9525">
            <a:solidFill>
              <a:srgbClr val="FFFFFF"/>
            </a:solidFill>
            <a:prstDash val="solid"/>
          </a:ln>
        </p:spPr>
      </p:sp>
      <p:sp>
        <p:nvSpPr>
          <p:cNvPr id="43" name="Shape 41"/>
          <p:cNvSpPr/>
          <p:nvPr/>
        </p:nvSpPr>
        <p:spPr>
          <a:xfrm>
            <a:off x="7289800" y="1636776"/>
            <a:ext cx="721360" cy="384048"/>
          </a:xfrm>
          <a:prstGeom prst="rect">
            <a:avLst/>
          </a:prstGeom>
          <a:solidFill>
            <a:srgbClr val="FFFFFF"/>
          </a:solidFill>
          <a:ln w="9525">
            <a:solidFill>
              <a:srgbClr val="FFFFFF"/>
            </a:solidFill>
            <a:prstDash val="solid"/>
          </a:ln>
        </p:spPr>
      </p:sp>
      <p:sp>
        <p:nvSpPr>
          <p:cNvPr id="44" name="Shape 42"/>
          <p:cNvSpPr/>
          <p:nvPr/>
        </p:nvSpPr>
        <p:spPr>
          <a:xfrm>
            <a:off x="8011160" y="1636776"/>
            <a:ext cx="721360" cy="384048"/>
          </a:xfrm>
          <a:prstGeom prst="rect">
            <a:avLst/>
          </a:prstGeom>
          <a:solidFill>
            <a:srgbClr val="FFFFFF"/>
          </a:solidFill>
          <a:ln w="9525">
            <a:solidFill>
              <a:srgbClr val="FFFFFF"/>
            </a:solidFill>
            <a:prstDash val="solid"/>
          </a:ln>
        </p:spPr>
      </p:sp>
      <p:sp>
        <p:nvSpPr>
          <p:cNvPr id="45" name="Shape 43"/>
          <p:cNvSpPr/>
          <p:nvPr/>
        </p:nvSpPr>
        <p:spPr>
          <a:xfrm>
            <a:off x="411480" y="2020824"/>
            <a:ext cx="1828800" cy="384048"/>
          </a:xfrm>
          <a:prstGeom prst="rect">
            <a:avLst/>
          </a:prstGeom>
          <a:solidFill>
            <a:srgbClr val="D9E2F3"/>
          </a:solidFill>
          <a:ln w="9525">
            <a:solidFill>
              <a:srgbClr val="FFFFFF"/>
            </a:solidFill>
            <a:prstDash val="solid"/>
          </a:ln>
        </p:spPr>
      </p:sp>
      <p:sp>
        <p:nvSpPr>
          <p:cNvPr id="46" name="Text 44"/>
          <p:cNvSpPr txBox="1"/>
          <p:nvPr/>
        </p:nvSpPr>
        <p:spPr>
          <a:xfrm>
            <a:off x="457200" y="2020824"/>
            <a:ext cx="1737360" cy="384048"/>
          </a:xfrm>
          <a:prstGeom prst="rect">
            <a:avLst/>
          </a:prstGeom>
          <a:noFill/>
          <a:ln/>
        </p:spPr>
        <p:txBody>
          <a:bodyPr wrap="square" lIns="0" tIns="0" rIns="0" bIns="0" rtlCol="0" anchor="ctr"/>
          <a:lstStyle/>
          <a:p>
            <a:pPr algn="l" indent="0" marL="0">
              <a:buNone/>
            </a:pPr>
            <a:r>
              <a:rPr lang="en-US" sz="850" b="1" dirty="0">
                <a:solidFill>
                  <a:srgbClr val="020202"/>
                </a:solidFill>
                <a:latin typeface="Times New Roman" pitchFamily="34" charset="0"/>
                <a:ea typeface="Times New Roman" pitchFamily="34" charset="-122"/>
                <a:cs typeface="Times New Roman" pitchFamily="34" charset="-120"/>
              </a:rPr>
              <a:t>RESEARCH METHODOLOGY</a:t>
            </a:r>
            <a:endParaRPr lang="en-US" sz="850" dirty="0"/>
          </a:p>
        </p:txBody>
      </p:sp>
      <p:sp>
        <p:nvSpPr>
          <p:cNvPr id="47" name="Shape 45"/>
          <p:cNvSpPr/>
          <p:nvPr/>
        </p:nvSpPr>
        <p:spPr>
          <a:xfrm>
            <a:off x="2240280" y="2020824"/>
            <a:ext cx="721360" cy="384048"/>
          </a:xfrm>
          <a:prstGeom prst="rect">
            <a:avLst/>
          </a:prstGeom>
          <a:solidFill>
            <a:srgbClr val="FFFFFF"/>
          </a:solidFill>
          <a:ln w="9525">
            <a:solidFill>
              <a:srgbClr val="FFFFFF"/>
            </a:solidFill>
            <a:prstDash val="solid"/>
          </a:ln>
        </p:spPr>
      </p:sp>
      <p:sp>
        <p:nvSpPr>
          <p:cNvPr id="48" name="Shape 46"/>
          <p:cNvSpPr/>
          <p:nvPr/>
        </p:nvSpPr>
        <p:spPr>
          <a:xfrm>
            <a:off x="2961640" y="2020824"/>
            <a:ext cx="721360" cy="384048"/>
          </a:xfrm>
          <a:prstGeom prst="rect">
            <a:avLst/>
          </a:prstGeom>
          <a:solidFill>
            <a:srgbClr val="FFFFFF"/>
          </a:solidFill>
          <a:ln w="9525">
            <a:solidFill>
              <a:srgbClr val="FFFFFF"/>
            </a:solidFill>
            <a:prstDash val="solid"/>
          </a:ln>
        </p:spPr>
      </p:sp>
      <p:sp>
        <p:nvSpPr>
          <p:cNvPr id="49" name="Shape 47"/>
          <p:cNvSpPr/>
          <p:nvPr/>
        </p:nvSpPr>
        <p:spPr>
          <a:xfrm>
            <a:off x="3683000" y="2020824"/>
            <a:ext cx="721360" cy="384048"/>
          </a:xfrm>
          <a:prstGeom prst="rect">
            <a:avLst/>
          </a:prstGeom>
          <a:solidFill>
            <a:srgbClr val="FFFFFF"/>
          </a:solidFill>
          <a:ln w="9525">
            <a:solidFill>
              <a:srgbClr val="FFFFFF"/>
            </a:solidFill>
            <a:prstDash val="solid"/>
          </a:ln>
        </p:spPr>
      </p:sp>
      <p:sp>
        <p:nvSpPr>
          <p:cNvPr id="50" name="Shape 48"/>
          <p:cNvSpPr/>
          <p:nvPr/>
        </p:nvSpPr>
        <p:spPr>
          <a:xfrm>
            <a:off x="4404360" y="2020824"/>
            <a:ext cx="721360" cy="384048"/>
          </a:xfrm>
          <a:prstGeom prst="rect">
            <a:avLst/>
          </a:prstGeom>
          <a:solidFill>
            <a:srgbClr val="FFFFFF"/>
          </a:solidFill>
          <a:ln w="9525">
            <a:solidFill>
              <a:srgbClr val="FFFFFF"/>
            </a:solidFill>
            <a:prstDash val="solid"/>
          </a:ln>
        </p:spPr>
      </p:sp>
      <p:sp>
        <p:nvSpPr>
          <p:cNvPr id="51" name="Shape 49"/>
          <p:cNvSpPr/>
          <p:nvPr/>
        </p:nvSpPr>
        <p:spPr>
          <a:xfrm>
            <a:off x="5125720" y="2020824"/>
            <a:ext cx="721360" cy="384048"/>
          </a:xfrm>
          <a:prstGeom prst="rect">
            <a:avLst/>
          </a:prstGeom>
          <a:solidFill>
            <a:srgbClr val="70AD47"/>
          </a:solidFill>
          <a:ln w="9525">
            <a:solidFill>
              <a:srgbClr val="FFFFFF"/>
            </a:solidFill>
            <a:prstDash val="solid"/>
          </a:ln>
        </p:spPr>
      </p:sp>
      <p:sp>
        <p:nvSpPr>
          <p:cNvPr id="52" name="Shape 50"/>
          <p:cNvSpPr/>
          <p:nvPr/>
        </p:nvSpPr>
        <p:spPr>
          <a:xfrm>
            <a:off x="5847080" y="2020824"/>
            <a:ext cx="721360" cy="384048"/>
          </a:xfrm>
          <a:prstGeom prst="rect">
            <a:avLst/>
          </a:prstGeom>
          <a:solidFill>
            <a:srgbClr val="70AD47"/>
          </a:solidFill>
          <a:ln w="9525">
            <a:solidFill>
              <a:srgbClr val="FFFFFF"/>
            </a:solidFill>
            <a:prstDash val="solid"/>
          </a:ln>
        </p:spPr>
      </p:sp>
      <p:sp>
        <p:nvSpPr>
          <p:cNvPr id="53" name="Shape 51"/>
          <p:cNvSpPr/>
          <p:nvPr/>
        </p:nvSpPr>
        <p:spPr>
          <a:xfrm>
            <a:off x="6568440" y="2020824"/>
            <a:ext cx="721360" cy="384048"/>
          </a:xfrm>
          <a:prstGeom prst="rect">
            <a:avLst/>
          </a:prstGeom>
          <a:solidFill>
            <a:srgbClr val="FFFFFF"/>
          </a:solidFill>
          <a:ln w="9525">
            <a:solidFill>
              <a:srgbClr val="FFFFFF"/>
            </a:solidFill>
            <a:prstDash val="solid"/>
          </a:ln>
        </p:spPr>
      </p:sp>
      <p:sp>
        <p:nvSpPr>
          <p:cNvPr id="54" name="Shape 52"/>
          <p:cNvSpPr/>
          <p:nvPr/>
        </p:nvSpPr>
        <p:spPr>
          <a:xfrm>
            <a:off x="7289800" y="2020824"/>
            <a:ext cx="721360" cy="384048"/>
          </a:xfrm>
          <a:prstGeom prst="rect">
            <a:avLst/>
          </a:prstGeom>
          <a:solidFill>
            <a:srgbClr val="FFFFFF"/>
          </a:solidFill>
          <a:ln w="9525">
            <a:solidFill>
              <a:srgbClr val="FFFFFF"/>
            </a:solidFill>
            <a:prstDash val="solid"/>
          </a:ln>
        </p:spPr>
      </p:sp>
      <p:sp>
        <p:nvSpPr>
          <p:cNvPr id="55" name="Shape 53"/>
          <p:cNvSpPr/>
          <p:nvPr/>
        </p:nvSpPr>
        <p:spPr>
          <a:xfrm>
            <a:off x="8011160" y="2020824"/>
            <a:ext cx="721360" cy="384048"/>
          </a:xfrm>
          <a:prstGeom prst="rect">
            <a:avLst/>
          </a:prstGeom>
          <a:solidFill>
            <a:srgbClr val="FFFFFF"/>
          </a:solidFill>
          <a:ln w="9525">
            <a:solidFill>
              <a:srgbClr val="FFFFFF"/>
            </a:solidFill>
            <a:prstDash val="solid"/>
          </a:ln>
        </p:spPr>
      </p:sp>
      <p:sp>
        <p:nvSpPr>
          <p:cNvPr id="56" name="Shape 54"/>
          <p:cNvSpPr/>
          <p:nvPr/>
        </p:nvSpPr>
        <p:spPr>
          <a:xfrm>
            <a:off x="411480" y="2404872"/>
            <a:ext cx="1828800" cy="384048"/>
          </a:xfrm>
          <a:prstGeom prst="rect">
            <a:avLst/>
          </a:prstGeom>
          <a:solidFill>
            <a:srgbClr val="D9E2F3"/>
          </a:solidFill>
          <a:ln w="9525">
            <a:solidFill>
              <a:srgbClr val="FFFFFF"/>
            </a:solidFill>
            <a:prstDash val="solid"/>
          </a:ln>
        </p:spPr>
      </p:sp>
      <p:sp>
        <p:nvSpPr>
          <p:cNvPr id="57" name="Text 55"/>
          <p:cNvSpPr txBox="1"/>
          <p:nvPr/>
        </p:nvSpPr>
        <p:spPr>
          <a:xfrm>
            <a:off x="457200" y="2404872"/>
            <a:ext cx="1737360" cy="384048"/>
          </a:xfrm>
          <a:prstGeom prst="rect">
            <a:avLst/>
          </a:prstGeom>
          <a:noFill/>
          <a:ln/>
        </p:spPr>
        <p:txBody>
          <a:bodyPr wrap="square" lIns="0" tIns="0" rIns="0" bIns="0" rtlCol="0" anchor="ctr"/>
          <a:lstStyle/>
          <a:p>
            <a:pPr algn="l" indent="0" marL="0">
              <a:buNone/>
            </a:pPr>
            <a:r>
              <a:rPr lang="en-US" sz="850" b="1" dirty="0">
                <a:solidFill>
                  <a:srgbClr val="020202"/>
                </a:solidFill>
                <a:latin typeface="Times New Roman" pitchFamily="34" charset="0"/>
                <a:ea typeface="Times New Roman" pitchFamily="34" charset="-122"/>
                <a:cs typeface="Times New Roman" pitchFamily="34" charset="-120"/>
              </a:rPr>
              <a:t>EXPERIMENTAL EVALUATION</a:t>
            </a:r>
            <a:endParaRPr lang="en-US" sz="850" dirty="0"/>
          </a:p>
        </p:txBody>
      </p:sp>
      <p:sp>
        <p:nvSpPr>
          <p:cNvPr id="58" name="Shape 56"/>
          <p:cNvSpPr/>
          <p:nvPr/>
        </p:nvSpPr>
        <p:spPr>
          <a:xfrm>
            <a:off x="2240280" y="2404872"/>
            <a:ext cx="721360" cy="384048"/>
          </a:xfrm>
          <a:prstGeom prst="rect">
            <a:avLst/>
          </a:prstGeom>
          <a:solidFill>
            <a:srgbClr val="FFFFFF"/>
          </a:solidFill>
          <a:ln w="9525">
            <a:solidFill>
              <a:srgbClr val="FFFFFF"/>
            </a:solidFill>
            <a:prstDash val="solid"/>
          </a:ln>
        </p:spPr>
      </p:sp>
      <p:sp>
        <p:nvSpPr>
          <p:cNvPr id="59" name="Shape 57"/>
          <p:cNvSpPr/>
          <p:nvPr/>
        </p:nvSpPr>
        <p:spPr>
          <a:xfrm>
            <a:off x="2961640" y="2404872"/>
            <a:ext cx="721360" cy="384048"/>
          </a:xfrm>
          <a:prstGeom prst="rect">
            <a:avLst/>
          </a:prstGeom>
          <a:solidFill>
            <a:srgbClr val="FFFFFF"/>
          </a:solidFill>
          <a:ln w="9525">
            <a:solidFill>
              <a:srgbClr val="FFFFFF"/>
            </a:solidFill>
            <a:prstDash val="solid"/>
          </a:ln>
        </p:spPr>
      </p:sp>
      <p:sp>
        <p:nvSpPr>
          <p:cNvPr id="60" name="Shape 58"/>
          <p:cNvSpPr/>
          <p:nvPr/>
        </p:nvSpPr>
        <p:spPr>
          <a:xfrm>
            <a:off x="3683000" y="2404872"/>
            <a:ext cx="721360" cy="384048"/>
          </a:xfrm>
          <a:prstGeom prst="rect">
            <a:avLst/>
          </a:prstGeom>
          <a:solidFill>
            <a:srgbClr val="FFFFFF"/>
          </a:solidFill>
          <a:ln w="9525">
            <a:solidFill>
              <a:srgbClr val="FFFFFF"/>
            </a:solidFill>
            <a:prstDash val="solid"/>
          </a:ln>
        </p:spPr>
      </p:sp>
      <p:sp>
        <p:nvSpPr>
          <p:cNvPr id="61" name="Shape 59"/>
          <p:cNvSpPr/>
          <p:nvPr/>
        </p:nvSpPr>
        <p:spPr>
          <a:xfrm>
            <a:off x="4404360" y="2404872"/>
            <a:ext cx="721360" cy="384048"/>
          </a:xfrm>
          <a:prstGeom prst="rect">
            <a:avLst/>
          </a:prstGeom>
          <a:solidFill>
            <a:srgbClr val="FFFFFF"/>
          </a:solidFill>
          <a:ln w="9525">
            <a:solidFill>
              <a:srgbClr val="FFFFFF"/>
            </a:solidFill>
            <a:prstDash val="solid"/>
          </a:ln>
        </p:spPr>
      </p:sp>
      <p:sp>
        <p:nvSpPr>
          <p:cNvPr id="62" name="Shape 60"/>
          <p:cNvSpPr/>
          <p:nvPr/>
        </p:nvSpPr>
        <p:spPr>
          <a:xfrm>
            <a:off x="5125720" y="2404872"/>
            <a:ext cx="721360" cy="384048"/>
          </a:xfrm>
          <a:prstGeom prst="rect">
            <a:avLst/>
          </a:prstGeom>
          <a:solidFill>
            <a:srgbClr val="FFFFFF"/>
          </a:solidFill>
          <a:ln w="9525">
            <a:solidFill>
              <a:srgbClr val="FFFFFF"/>
            </a:solidFill>
            <a:prstDash val="solid"/>
          </a:ln>
        </p:spPr>
      </p:sp>
      <p:sp>
        <p:nvSpPr>
          <p:cNvPr id="63" name="Shape 61"/>
          <p:cNvSpPr/>
          <p:nvPr/>
        </p:nvSpPr>
        <p:spPr>
          <a:xfrm>
            <a:off x="5847080" y="2404872"/>
            <a:ext cx="721360" cy="384048"/>
          </a:xfrm>
          <a:prstGeom prst="rect">
            <a:avLst/>
          </a:prstGeom>
          <a:solidFill>
            <a:srgbClr val="C00000"/>
          </a:solidFill>
          <a:ln w="9525">
            <a:solidFill>
              <a:srgbClr val="FFFFFF"/>
            </a:solidFill>
            <a:prstDash val="solid"/>
          </a:ln>
        </p:spPr>
      </p:sp>
      <p:sp>
        <p:nvSpPr>
          <p:cNvPr id="64" name="Shape 62"/>
          <p:cNvSpPr/>
          <p:nvPr/>
        </p:nvSpPr>
        <p:spPr>
          <a:xfrm>
            <a:off x="6568440" y="2404872"/>
            <a:ext cx="721360" cy="384048"/>
          </a:xfrm>
          <a:prstGeom prst="rect">
            <a:avLst/>
          </a:prstGeom>
          <a:solidFill>
            <a:srgbClr val="C00000"/>
          </a:solidFill>
          <a:ln w="9525">
            <a:solidFill>
              <a:srgbClr val="FFFFFF"/>
            </a:solidFill>
            <a:prstDash val="solid"/>
          </a:ln>
        </p:spPr>
      </p:sp>
      <p:sp>
        <p:nvSpPr>
          <p:cNvPr id="65" name="Shape 63"/>
          <p:cNvSpPr/>
          <p:nvPr/>
        </p:nvSpPr>
        <p:spPr>
          <a:xfrm>
            <a:off x="7289800" y="2404872"/>
            <a:ext cx="721360" cy="384048"/>
          </a:xfrm>
          <a:prstGeom prst="rect">
            <a:avLst/>
          </a:prstGeom>
          <a:solidFill>
            <a:srgbClr val="FFFFFF"/>
          </a:solidFill>
          <a:ln w="9525">
            <a:solidFill>
              <a:srgbClr val="FFFFFF"/>
            </a:solidFill>
            <a:prstDash val="solid"/>
          </a:ln>
        </p:spPr>
      </p:sp>
      <p:sp>
        <p:nvSpPr>
          <p:cNvPr id="66" name="Shape 64"/>
          <p:cNvSpPr/>
          <p:nvPr/>
        </p:nvSpPr>
        <p:spPr>
          <a:xfrm>
            <a:off x="8011160" y="2404872"/>
            <a:ext cx="721360" cy="384048"/>
          </a:xfrm>
          <a:prstGeom prst="rect">
            <a:avLst/>
          </a:prstGeom>
          <a:solidFill>
            <a:srgbClr val="FFFFFF"/>
          </a:solidFill>
          <a:ln w="9525">
            <a:solidFill>
              <a:srgbClr val="FFFFFF"/>
            </a:solidFill>
            <a:prstDash val="solid"/>
          </a:ln>
        </p:spPr>
      </p:sp>
      <p:sp>
        <p:nvSpPr>
          <p:cNvPr id="67" name="Shape 65"/>
          <p:cNvSpPr/>
          <p:nvPr/>
        </p:nvSpPr>
        <p:spPr>
          <a:xfrm>
            <a:off x="411480" y="2788920"/>
            <a:ext cx="1828800" cy="384048"/>
          </a:xfrm>
          <a:prstGeom prst="rect">
            <a:avLst/>
          </a:prstGeom>
          <a:solidFill>
            <a:srgbClr val="D9E2F3"/>
          </a:solidFill>
          <a:ln w="9525">
            <a:solidFill>
              <a:srgbClr val="FFFFFF"/>
            </a:solidFill>
            <a:prstDash val="solid"/>
          </a:ln>
        </p:spPr>
      </p:sp>
      <p:sp>
        <p:nvSpPr>
          <p:cNvPr id="68" name="Text 66"/>
          <p:cNvSpPr txBox="1"/>
          <p:nvPr/>
        </p:nvSpPr>
        <p:spPr>
          <a:xfrm>
            <a:off x="457200" y="2788920"/>
            <a:ext cx="1737360" cy="384048"/>
          </a:xfrm>
          <a:prstGeom prst="rect">
            <a:avLst/>
          </a:prstGeom>
          <a:noFill/>
          <a:ln/>
        </p:spPr>
        <p:txBody>
          <a:bodyPr wrap="square" lIns="0" tIns="0" rIns="0" bIns="0" rtlCol="0" anchor="ctr"/>
          <a:lstStyle/>
          <a:p>
            <a:pPr algn="l" indent="0" marL="0">
              <a:buNone/>
            </a:pPr>
            <a:r>
              <a:rPr lang="en-US" sz="850" b="1" dirty="0">
                <a:solidFill>
                  <a:srgbClr val="020202"/>
                </a:solidFill>
                <a:latin typeface="Times New Roman" pitchFamily="34" charset="0"/>
                <a:ea typeface="Times New Roman" pitchFamily="34" charset="-122"/>
                <a:cs typeface="Times New Roman" pitchFamily="34" charset="-120"/>
              </a:rPr>
              <a:t>RESULT ANALYSIS</a:t>
            </a:r>
            <a:endParaRPr lang="en-US" sz="850" dirty="0"/>
          </a:p>
        </p:txBody>
      </p:sp>
      <p:sp>
        <p:nvSpPr>
          <p:cNvPr id="69" name="Shape 67"/>
          <p:cNvSpPr/>
          <p:nvPr/>
        </p:nvSpPr>
        <p:spPr>
          <a:xfrm>
            <a:off x="2240280" y="2788920"/>
            <a:ext cx="721360" cy="384048"/>
          </a:xfrm>
          <a:prstGeom prst="rect">
            <a:avLst/>
          </a:prstGeom>
          <a:solidFill>
            <a:srgbClr val="FFFFFF"/>
          </a:solidFill>
          <a:ln w="9525">
            <a:solidFill>
              <a:srgbClr val="FFFFFF"/>
            </a:solidFill>
            <a:prstDash val="solid"/>
          </a:ln>
        </p:spPr>
      </p:sp>
      <p:sp>
        <p:nvSpPr>
          <p:cNvPr id="70" name="Shape 68"/>
          <p:cNvSpPr/>
          <p:nvPr/>
        </p:nvSpPr>
        <p:spPr>
          <a:xfrm>
            <a:off x="2961640" y="2788920"/>
            <a:ext cx="721360" cy="384048"/>
          </a:xfrm>
          <a:prstGeom prst="rect">
            <a:avLst/>
          </a:prstGeom>
          <a:solidFill>
            <a:srgbClr val="FFFFFF"/>
          </a:solidFill>
          <a:ln w="9525">
            <a:solidFill>
              <a:srgbClr val="FFFFFF"/>
            </a:solidFill>
            <a:prstDash val="solid"/>
          </a:ln>
        </p:spPr>
      </p:sp>
      <p:sp>
        <p:nvSpPr>
          <p:cNvPr id="71" name="Shape 69"/>
          <p:cNvSpPr/>
          <p:nvPr/>
        </p:nvSpPr>
        <p:spPr>
          <a:xfrm>
            <a:off x="3683000" y="2788920"/>
            <a:ext cx="721360" cy="384048"/>
          </a:xfrm>
          <a:prstGeom prst="rect">
            <a:avLst/>
          </a:prstGeom>
          <a:solidFill>
            <a:srgbClr val="FFFFFF"/>
          </a:solidFill>
          <a:ln w="9525">
            <a:solidFill>
              <a:srgbClr val="FFFFFF"/>
            </a:solidFill>
            <a:prstDash val="solid"/>
          </a:ln>
        </p:spPr>
      </p:sp>
      <p:sp>
        <p:nvSpPr>
          <p:cNvPr id="72" name="Shape 70"/>
          <p:cNvSpPr/>
          <p:nvPr/>
        </p:nvSpPr>
        <p:spPr>
          <a:xfrm>
            <a:off x="4404360" y="2788920"/>
            <a:ext cx="721360" cy="384048"/>
          </a:xfrm>
          <a:prstGeom prst="rect">
            <a:avLst/>
          </a:prstGeom>
          <a:solidFill>
            <a:srgbClr val="FFFFFF"/>
          </a:solidFill>
          <a:ln w="9525">
            <a:solidFill>
              <a:srgbClr val="FFFFFF"/>
            </a:solidFill>
            <a:prstDash val="solid"/>
          </a:ln>
        </p:spPr>
      </p:sp>
      <p:sp>
        <p:nvSpPr>
          <p:cNvPr id="73" name="Shape 71"/>
          <p:cNvSpPr/>
          <p:nvPr/>
        </p:nvSpPr>
        <p:spPr>
          <a:xfrm>
            <a:off x="5125720" y="2788920"/>
            <a:ext cx="721360" cy="384048"/>
          </a:xfrm>
          <a:prstGeom prst="rect">
            <a:avLst/>
          </a:prstGeom>
          <a:solidFill>
            <a:srgbClr val="FFFFFF"/>
          </a:solidFill>
          <a:ln w="9525">
            <a:solidFill>
              <a:srgbClr val="FFFFFF"/>
            </a:solidFill>
            <a:prstDash val="solid"/>
          </a:ln>
        </p:spPr>
      </p:sp>
      <p:sp>
        <p:nvSpPr>
          <p:cNvPr id="74" name="Shape 72"/>
          <p:cNvSpPr/>
          <p:nvPr/>
        </p:nvSpPr>
        <p:spPr>
          <a:xfrm>
            <a:off x="5847080" y="2788920"/>
            <a:ext cx="721360" cy="384048"/>
          </a:xfrm>
          <a:prstGeom prst="rect">
            <a:avLst/>
          </a:prstGeom>
          <a:solidFill>
            <a:srgbClr val="FFFFFF"/>
          </a:solidFill>
          <a:ln w="9525">
            <a:solidFill>
              <a:srgbClr val="FFFFFF"/>
            </a:solidFill>
            <a:prstDash val="solid"/>
          </a:ln>
        </p:spPr>
      </p:sp>
      <p:sp>
        <p:nvSpPr>
          <p:cNvPr id="75" name="Shape 73"/>
          <p:cNvSpPr/>
          <p:nvPr/>
        </p:nvSpPr>
        <p:spPr>
          <a:xfrm>
            <a:off x="6568440" y="2788920"/>
            <a:ext cx="721360" cy="384048"/>
          </a:xfrm>
          <a:prstGeom prst="rect">
            <a:avLst/>
          </a:prstGeom>
          <a:solidFill>
            <a:srgbClr val="C00000"/>
          </a:solidFill>
          <a:ln w="9525">
            <a:solidFill>
              <a:srgbClr val="FFFFFF"/>
            </a:solidFill>
            <a:prstDash val="solid"/>
          </a:ln>
        </p:spPr>
      </p:sp>
      <p:sp>
        <p:nvSpPr>
          <p:cNvPr id="76" name="Shape 74"/>
          <p:cNvSpPr/>
          <p:nvPr/>
        </p:nvSpPr>
        <p:spPr>
          <a:xfrm>
            <a:off x="7289800" y="2788920"/>
            <a:ext cx="721360" cy="384048"/>
          </a:xfrm>
          <a:prstGeom prst="rect">
            <a:avLst/>
          </a:prstGeom>
          <a:solidFill>
            <a:srgbClr val="C00000"/>
          </a:solidFill>
          <a:ln w="9525">
            <a:solidFill>
              <a:srgbClr val="FFFFFF"/>
            </a:solidFill>
            <a:prstDash val="solid"/>
          </a:ln>
        </p:spPr>
      </p:sp>
      <p:sp>
        <p:nvSpPr>
          <p:cNvPr id="77" name="Shape 75"/>
          <p:cNvSpPr/>
          <p:nvPr/>
        </p:nvSpPr>
        <p:spPr>
          <a:xfrm>
            <a:off x="8011160" y="2788920"/>
            <a:ext cx="721360" cy="384048"/>
          </a:xfrm>
          <a:prstGeom prst="rect">
            <a:avLst/>
          </a:prstGeom>
          <a:solidFill>
            <a:srgbClr val="FFFFFF"/>
          </a:solidFill>
          <a:ln w="9525">
            <a:solidFill>
              <a:srgbClr val="FFFFFF"/>
            </a:solidFill>
            <a:prstDash val="solid"/>
          </a:ln>
        </p:spPr>
      </p:sp>
      <p:sp>
        <p:nvSpPr>
          <p:cNvPr id="78" name="Shape 76"/>
          <p:cNvSpPr/>
          <p:nvPr/>
        </p:nvSpPr>
        <p:spPr>
          <a:xfrm>
            <a:off x="411480" y="3172968"/>
            <a:ext cx="1828800" cy="384048"/>
          </a:xfrm>
          <a:prstGeom prst="rect">
            <a:avLst/>
          </a:prstGeom>
          <a:solidFill>
            <a:srgbClr val="D9E2F3"/>
          </a:solidFill>
          <a:ln w="9525">
            <a:solidFill>
              <a:srgbClr val="FFFFFF"/>
            </a:solidFill>
            <a:prstDash val="solid"/>
          </a:ln>
        </p:spPr>
      </p:sp>
      <p:sp>
        <p:nvSpPr>
          <p:cNvPr id="79" name="Text 77"/>
          <p:cNvSpPr txBox="1"/>
          <p:nvPr/>
        </p:nvSpPr>
        <p:spPr>
          <a:xfrm>
            <a:off x="457200" y="3172968"/>
            <a:ext cx="1737360" cy="384048"/>
          </a:xfrm>
          <a:prstGeom prst="rect">
            <a:avLst/>
          </a:prstGeom>
          <a:noFill/>
          <a:ln/>
        </p:spPr>
        <p:txBody>
          <a:bodyPr wrap="square" lIns="0" tIns="0" rIns="0" bIns="0" rtlCol="0" anchor="ctr"/>
          <a:lstStyle/>
          <a:p>
            <a:pPr algn="l" indent="0" marL="0">
              <a:buNone/>
            </a:pPr>
            <a:r>
              <a:rPr lang="en-US" sz="850" b="1" dirty="0">
                <a:solidFill>
                  <a:srgbClr val="020202"/>
                </a:solidFill>
                <a:latin typeface="Times New Roman" pitchFamily="34" charset="0"/>
                <a:ea typeface="Times New Roman" pitchFamily="34" charset="-122"/>
                <a:cs typeface="Times New Roman" pitchFamily="34" charset="-120"/>
              </a:rPr>
              <a:t>PROJECT DOCUMENTATION</a:t>
            </a:r>
            <a:endParaRPr lang="en-US" sz="850" dirty="0"/>
          </a:p>
        </p:txBody>
      </p:sp>
      <p:sp>
        <p:nvSpPr>
          <p:cNvPr id="80" name="Shape 78"/>
          <p:cNvSpPr/>
          <p:nvPr/>
        </p:nvSpPr>
        <p:spPr>
          <a:xfrm>
            <a:off x="2240280" y="3172968"/>
            <a:ext cx="721360" cy="384048"/>
          </a:xfrm>
          <a:prstGeom prst="rect">
            <a:avLst/>
          </a:prstGeom>
          <a:solidFill>
            <a:srgbClr val="FFFFFF"/>
          </a:solidFill>
          <a:ln w="9525">
            <a:solidFill>
              <a:srgbClr val="FFFFFF"/>
            </a:solidFill>
            <a:prstDash val="solid"/>
          </a:ln>
        </p:spPr>
      </p:sp>
      <p:sp>
        <p:nvSpPr>
          <p:cNvPr id="81" name="Shape 79"/>
          <p:cNvSpPr/>
          <p:nvPr/>
        </p:nvSpPr>
        <p:spPr>
          <a:xfrm>
            <a:off x="2961640" y="3172968"/>
            <a:ext cx="721360" cy="384048"/>
          </a:xfrm>
          <a:prstGeom prst="rect">
            <a:avLst/>
          </a:prstGeom>
          <a:solidFill>
            <a:srgbClr val="FFFFFF"/>
          </a:solidFill>
          <a:ln w="9525">
            <a:solidFill>
              <a:srgbClr val="FFFFFF"/>
            </a:solidFill>
            <a:prstDash val="solid"/>
          </a:ln>
        </p:spPr>
      </p:sp>
      <p:sp>
        <p:nvSpPr>
          <p:cNvPr id="82" name="Shape 80"/>
          <p:cNvSpPr/>
          <p:nvPr/>
        </p:nvSpPr>
        <p:spPr>
          <a:xfrm>
            <a:off x="3683000" y="3172968"/>
            <a:ext cx="721360" cy="384048"/>
          </a:xfrm>
          <a:prstGeom prst="rect">
            <a:avLst/>
          </a:prstGeom>
          <a:solidFill>
            <a:srgbClr val="70AD47"/>
          </a:solidFill>
          <a:ln w="9525">
            <a:solidFill>
              <a:srgbClr val="FFFFFF"/>
            </a:solidFill>
            <a:prstDash val="solid"/>
          </a:ln>
        </p:spPr>
      </p:sp>
      <p:sp>
        <p:nvSpPr>
          <p:cNvPr id="83" name="Shape 81"/>
          <p:cNvSpPr/>
          <p:nvPr/>
        </p:nvSpPr>
        <p:spPr>
          <a:xfrm>
            <a:off x="4404360" y="3172968"/>
            <a:ext cx="721360" cy="384048"/>
          </a:xfrm>
          <a:prstGeom prst="rect">
            <a:avLst/>
          </a:prstGeom>
          <a:solidFill>
            <a:srgbClr val="70AD47"/>
          </a:solidFill>
          <a:ln w="9525">
            <a:solidFill>
              <a:srgbClr val="FFFFFF"/>
            </a:solidFill>
            <a:prstDash val="solid"/>
          </a:ln>
        </p:spPr>
      </p:sp>
      <p:sp>
        <p:nvSpPr>
          <p:cNvPr id="84" name="Shape 82"/>
          <p:cNvSpPr/>
          <p:nvPr/>
        </p:nvSpPr>
        <p:spPr>
          <a:xfrm>
            <a:off x="5125720" y="3172968"/>
            <a:ext cx="721360" cy="384048"/>
          </a:xfrm>
          <a:prstGeom prst="rect">
            <a:avLst/>
          </a:prstGeom>
          <a:solidFill>
            <a:srgbClr val="70AD47"/>
          </a:solidFill>
          <a:ln w="9525">
            <a:solidFill>
              <a:srgbClr val="FFFFFF"/>
            </a:solidFill>
            <a:prstDash val="solid"/>
          </a:ln>
        </p:spPr>
      </p:sp>
      <p:sp>
        <p:nvSpPr>
          <p:cNvPr id="85" name="Shape 83"/>
          <p:cNvSpPr/>
          <p:nvPr/>
        </p:nvSpPr>
        <p:spPr>
          <a:xfrm>
            <a:off x="5847080" y="3172968"/>
            <a:ext cx="721360" cy="384048"/>
          </a:xfrm>
          <a:prstGeom prst="rect">
            <a:avLst/>
          </a:prstGeom>
          <a:solidFill>
            <a:srgbClr val="C00000"/>
          </a:solidFill>
          <a:ln w="9525">
            <a:solidFill>
              <a:srgbClr val="FFFFFF"/>
            </a:solidFill>
            <a:prstDash val="solid"/>
          </a:ln>
        </p:spPr>
      </p:sp>
      <p:sp>
        <p:nvSpPr>
          <p:cNvPr id="86" name="Shape 84"/>
          <p:cNvSpPr/>
          <p:nvPr/>
        </p:nvSpPr>
        <p:spPr>
          <a:xfrm>
            <a:off x="6568440" y="3172968"/>
            <a:ext cx="721360" cy="384048"/>
          </a:xfrm>
          <a:prstGeom prst="rect">
            <a:avLst/>
          </a:prstGeom>
          <a:solidFill>
            <a:srgbClr val="C00000"/>
          </a:solidFill>
          <a:ln w="9525">
            <a:solidFill>
              <a:srgbClr val="FFFFFF"/>
            </a:solidFill>
            <a:prstDash val="solid"/>
          </a:ln>
        </p:spPr>
      </p:sp>
      <p:sp>
        <p:nvSpPr>
          <p:cNvPr id="87" name="Shape 85"/>
          <p:cNvSpPr/>
          <p:nvPr/>
        </p:nvSpPr>
        <p:spPr>
          <a:xfrm>
            <a:off x="7289800" y="3172968"/>
            <a:ext cx="721360" cy="384048"/>
          </a:xfrm>
          <a:prstGeom prst="rect">
            <a:avLst/>
          </a:prstGeom>
          <a:solidFill>
            <a:srgbClr val="C00000"/>
          </a:solidFill>
          <a:ln w="9525">
            <a:solidFill>
              <a:srgbClr val="FFFFFF"/>
            </a:solidFill>
            <a:prstDash val="solid"/>
          </a:ln>
        </p:spPr>
      </p:sp>
      <p:sp>
        <p:nvSpPr>
          <p:cNvPr id="88" name="Shape 86"/>
          <p:cNvSpPr/>
          <p:nvPr/>
        </p:nvSpPr>
        <p:spPr>
          <a:xfrm>
            <a:off x="8011160" y="3172968"/>
            <a:ext cx="721360" cy="384048"/>
          </a:xfrm>
          <a:prstGeom prst="rect">
            <a:avLst/>
          </a:prstGeom>
          <a:solidFill>
            <a:srgbClr val="FFFFFF"/>
          </a:solidFill>
          <a:ln w="9525">
            <a:solidFill>
              <a:srgbClr val="FFFFFF"/>
            </a:solidFill>
            <a:prstDash val="solid"/>
          </a:ln>
        </p:spPr>
      </p:sp>
      <p:sp>
        <p:nvSpPr>
          <p:cNvPr id="89" name="Shape 87"/>
          <p:cNvSpPr/>
          <p:nvPr/>
        </p:nvSpPr>
        <p:spPr>
          <a:xfrm>
            <a:off x="411480" y="3739896"/>
            <a:ext cx="274320" cy="182880"/>
          </a:xfrm>
          <a:prstGeom prst="rect">
            <a:avLst/>
          </a:prstGeom>
          <a:solidFill>
            <a:srgbClr val="C00000"/>
          </a:solidFill>
          <a:ln/>
        </p:spPr>
      </p:sp>
      <p:sp>
        <p:nvSpPr>
          <p:cNvPr id="90" name="Text 88"/>
          <p:cNvSpPr txBox="1"/>
          <p:nvPr/>
        </p:nvSpPr>
        <p:spPr>
          <a:xfrm>
            <a:off x="731520" y="3712464"/>
            <a:ext cx="1828800" cy="237744"/>
          </a:xfrm>
          <a:prstGeom prst="rect">
            <a:avLst/>
          </a:prstGeom>
          <a:noFill/>
          <a:ln/>
        </p:spPr>
        <p:txBody>
          <a:bodyPr wrap="square" lIns="0" tIns="0" rIns="0" bIns="0" rtlCol="0" anchor="ctr"/>
          <a:lstStyle/>
          <a:p>
            <a:pPr indent="0" marL="0">
              <a:buNone/>
            </a:pPr>
            <a:r>
              <a:rPr lang="en-US" sz="1000" dirty="0">
                <a:solidFill>
                  <a:srgbClr val="020202"/>
                </a:solidFill>
                <a:latin typeface="Times New Roman" pitchFamily="34" charset="0"/>
                <a:ea typeface="Times New Roman" pitchFamily="34" charset="-122"/>
                <a:cs typeface="Times New Roman" pitchFamily="34" charset="-120"/>
              </a:rPr>
              <a:t>Proposed Activity</a:t>
            </a:r>
            <a:endParaRPr lang="en-US" sz="1000" dirty="0"/>
          </a:p>
        </p:txBody>
      </p:sp>
      <p:sp>
        <p:nvSpPr>
          <p:cNvPr id="91" name="Shape 89"/>
          <p:cNvSpPr/>
          <p:nvPr/>
        </p:nvSpPr>
        <p:spPr>
          <a:xfrm>
            <a:off x="2788920" y="3739896"/>
            <a:ext cx="274320" cy="182880"/>
          </a:xfrm>
          <a:prstGeom prst="rect">
            <a:avLst/>
          </a:prstGeom>
          <a:solidFill>
            <a:srgbClr val="70AD47"/>
          </a:solidFill>
          <a:ln/>
        </p:spPr>
      </p:sp>
      <p:sp>
        <p:nvSpPr>
          <p:cNvPr id="92" name="Text 90"/>
          <p:cNvSpPr txBox="1"/>
          <p:nvPr/>
        </p:nvSpPr>
        <p:spPr>
          <a:xfrm>
            <a:off x="3108960" y="3712464"/>
            <a:ext cx="1828800" cy="237744"/>
          </a:xfrm>
          <a:prstGeom prst="rect">
            <a:avLst/>
          </a:prstGeom>
          <a:noFill/>
          <a:ln/>
        </p:spPr>
        <p:txBody>
          <a:bodyPr wrap="square" lIns="0" tIns="0" rIns="0" bIns="0" rtlCol="0" anchor="ctr"/>
          <a:lstStyle/>
          <a:p>
            <a:pPr indent="0" marL="0">
              <a:buNone/>
            </a:pPr>
            <a:r>
              <a:rPr lang="en-US" sz="1000" dirty="0">
                <a:solidFill>
                  <a:srgbClr val="020202"/>
                </a:solidFill>
                <a:latin typeface="Times New Roman" pitchFamily="34" charset="0"/>
                <a:ea typeface="Times New Roman" pitchFamily="34" charset="-122"/>
                <a:cs typeface="Times New Roman" pitchFamily="34" charset="-120"/>
              </a:rPr>
              <a:t>Achieved Activity</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800" b="1" dirty="0">
                <a:solidFill>
                  <a:srgbClr val="020202"/>
                </a:solidFill>
                <a:latin typeface="Times New Roman" pitchFamily="34" charset="0"/>
                <a:ea typeface="Times New Roman" pitchFamily="34" charset="-122"/>
                <a:cs typeface="Times New Roman" pitchFamily="34" charset="-120"/>
              </a:rPr>
              <a:t>Conclusion</a:t>
            </a:r>
            <a:endParaRPr lang="en-US" sz="2800" dirty="0"/>
          </a:p>
        </p:txBody>
      </p:sp>
      <p:sp>
        <p:nvSpPr>
          <p:cNvPr id="3" name="Text 1"/>
          <p:cNvSpPr txBox="1"/>
          <p:nvPr/>
        </p:nvSpPr>
        <p:spPr>
          <a:xfrm>
            <a:off x="411480" y="1143000"/>
            <a:ext cx="8321040" cy="3566160"/>
          </a:xfrm>
          <a:prstGeom prst="rect">
            <a:avLst/>
          </a:prstGeom>
          <a:noFill/>
          <a:ln/>
        </p:spPr>
        <p:txBody>
          <a:bodyPr wrap="square" lIns="0" tIns="0" rIns="0" bIns="0" rtlCol="0" anchor="t"/>
          <a:lstStyle/>
          <a:p>
            <a:pPr algn="just" indent="0" marL="0">
              <a:lnSpc>
                <a:spcPct val="125000"/>
              </a:lnSpc>
              <a:buNone/>
            </a:pPr>
            <a:r>
              <a:rPr lang="en-US" sz="1400" dirty="0">
                <a:solidFill>
                  <a:srgbClr val="020202"/>
                </a:solidFill>
                <a:latin typeface="Times New Roman" pitchFamily="34" charset="0"/>
                <a:ea typeface="Times New Roman" pitchFamily="34" charset="-122"/>
                <a:cs typeface="Times New Roman" pitchFamily="34" charset="-120"/>
              </a:rPr>
              <a:t>This methodology presents a controlled approach for evaluating Gap-Aware Retrieval (GAR) within the MIGRES framework. GAR uses the current information gap and previously collected evidence to retrieve and rank documents based on relevance, coverage, and novelty, and the selected documents are passed to MIGRES for filtering, extraction, and further iteration. GAR is evaluated against established retrieval methods — BM25, DPR, Contriever, ColBERTv2, and SPLADE — with ablation studies to examine each component's contribution, and retrieval quality, answer quality, and efficiency assessed using predefined metrics. Overall, the methodology is designed to determine whether using the information gap and existing evidence can improve retrieval in iterative information-seeking systems while keeping the surrounding framework unchanged.</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algn="ctr" indent="0" marL="0">
              <a:buNone/>
            </a:pPr>
            <a:r>
              <a:rPr lang="en-US" sz="2600" b="1" dirty="0">
                <a:solidFill>
                  <a:srgbClr val="020202"/>
                </a:solidFill>
                <a:latin typeface="Times New Roman" pitchFamily="34" charset="0"/>
                <a:ea typeface="Times New Roman" pitchFamily="34" charset="-122"/>
                <a:cs typeface="Times New Roman" pitchFamily="34" charset="-120"/>
              </a:rPr>
              <a:t>References</a:t>
            </a:r>
            <a:endParaRPr lang="en-US" sz="2600" dirty="0"/>
          </a:p>
        </p:txBody>
      </p:sp>
      <p:sp>
        <p:nvSpPr>
          <p:cNvPr id="3" name="Text 1"/>
          <p:cNvSpPr txBox="1"/>
          <p:nvPr/>
        </p:nvSpPr>
        <p:spPr>
          <a:xfrm>
            <a:off x="411480" y="1051560"/>
            <a:ext cx="8321040" cy="37490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K. Wang, F. Duan, P. Li, S. Wang, X. Cai, “LLMs Know What They Need: Leveraging a Missing Information Guided Framework to Empower RAG,” COLING 2025, pp. 2379–2400.</a:t>
            </a:r>
            <a:endParaRPr lang="en-US" sz="1150" dirty="0"/>
          </a:p>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M. Pickett, J. Hartman, A. K. Bhowmick, R. ul Alam, A. Vempaty, “Better RAG using Relevant Information Gain,” arXiv:2407.12101, 2024.</a:t>
            </a:r>
            <a:endParaRPr lang="en-US" sz="1150" dirty="0"/>
          </a:p>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Z. Wang et al., “InfoGain-RAG: Boosting RAG through Document Information Gain-based Reranking and Filtering,” EMNLP 2025, pp. 7190–7204.</a:t>
            </a:r>
            <a:endParaRPr lang="en-US" sz="1150" dirty="0"/>
          </a:p>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J. Hwang et al., “Retrieval-Augmented Generation with Estimation of Source Reliability,” EMNLP 2025, pp. 34279–34303.</a:t>
            </a:r>
            <a:endParaRPr lang="en-US" sz="1150" dirty="0"/>
          </a:p>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K. Santhanam, O. Khattab, J. Saad-Falcon, C. Potts, M. Zaharia, “ColBERTv2: Effective and Efficient Retrieval via Lightweight Late Interaction,” NAACL 2022, pp. 3715–3734.</a:t>
            </a:r>
            <a:endParaRPr lang="en-US" sz="1150" dirty="0"/>
          </a:p>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S. Robertson, H. Zaragoza, “The Probabilistic Relevance Framework: BM25 and Beyond,” Foundations and Trends in IR, vol. 3, no. 4, 2009.</a:t>
            </a:r>
            <a:endParaRPr lang="en-US" sz="1150" dirty="0"/>
          </a:p>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V. Karpukhin et al., “Dense Passage Retrieval for Open-Domain Question Answering,” EMNLP 2020, pp. 6769–6781.</a:t>
            </a:r>
            <a:endParaRPr lang="en-US" sz="1150" dirty="0"/>
          </a:p>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T. Formal, C. Lassance, B. Piwowarski, S. Clinchant, “SPLADE: Sparse Lexical and Expansion Model for First Stage Ranking,” arXiv:2107.05720, 2021.</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2026-08-30T18:11:57Z</dcterms:created>
  <dcterms:modified xsi:type="dcterms:W3CDTF">2026-08-30T18:11:57Z</dcterms:modified>
</cp:coreProperties>
</file>